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EE9-55E5-467E-84EC-1B3CFCFE4B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776C5-D79A-42A7-A1C9-F6236B394D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EE9-55E5-467E-84EC-1B3CFCFE4B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776C5-D79A-42A7-A1C9-F6236B394D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EE9-55E5-467E-84EC-1B3CFCFE4B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776C5-D79A-42A7-A1C9-F6236B394D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EE9-55E5-467E-84EC-1B3CFCFE4B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776C5-D79A-42A7-A1C9-F6236B394D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EE9-55E5-467E-84EC-1B3CFCFE4B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776C5-D79A-42A7-A1C9-F6236B394D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EE9-55E5-467E-84EC-1B3CFCFE4B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776C5-D79A-42A7-A1C9-F6236B394D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EE9-55E5-467E-84EC-1B3CFCFE4B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776C5-D79A-42A7-A1C9-F6236B394D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EE9-55E5-467E-84EC-1B3CFCFE4B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776C5-D79A-42A7-A1C9-F6236B394D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EE9-55E5-467E-84EC-1B3CFCFE4B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776C5-D79A-42A7-A1C9-F6236B394D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EE9-55E5-467E-84EC-1B3CFCFE4B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776C5-D79A-42A7-A1C9-F6236B394D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EE9-55E5-467E-84EC-1B3CFCFE4B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776C5-D79A-42A7-A1C9-F6236B394D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21EE9-55E5-467E-84EC-1B3CFCFE4B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776C5-D79A-42A7-A1C9-F6236B394D7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6"/>
          <p:cNvSpPr txBox="1"/>
          <p:nvPr/>
        </p:nvSpPr>
        <p:spPr>
          <a:xfrm>
            <a:off x="666750" y="205415"/>
            <a:ext cx="10852150" cy="6238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smtClean="0">
                <a:solidFill>
                  <a:schemeClr val="accent1"/>
                </a:solidFill>
                <a:sym typeface="+mn-ea"/>
              </a:rPr>
              <a:t>基于大模型的</a:t>
            </a:r>
            <a:r>
              <a:rPr lang="en-US" altLang="zh-CN" b="1" smtClean="0">
                <a:solidFill>
                  <a:schemeClr val="accent1"/>
                </a:solidFill>
                <a:sym typeface="+mn-ea"/>
              </a:rPr>
              <a:t>AI</a:t>
            </a:r>
            <a:r>
              <a:rPr lang="zh-CN" altLang="en-US" b="1" smtClean="0">
                <a:solidFill>
                  <a:schemeClr val="accent1"/>
                </a:solidFill>
                <a:sym typeface="+mn-ea"/>
              </a:rPr>
              <a:t>应用</a:t>
            </a:r>
            <a:r>
              <a:rPr lang="en-US" altLang="zh-CN" smtClean="0">
                <a:solidFill>
                  <a:schemeClr val="accent1"/>
                </a:solidFill>
                <a:sym typeface="+mn-ea"/>
              </a:rPr>
              <a:t>——</a:t>
            </a:r>
            <a:r>
              <a:rPr lang="zh-CN" altLang="en-US" smtClean="0">
                <a:solidFill>
                  <a:schemeClr val="accent1"/>
                </a:solidFill>
                <a:sym typeface="+mn-ea"/>
              </a:rPr>
              <a:t>大模型微调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075690" y="1025525"/>
            <a:ext cx="4460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结合特定场景的大模型微调</a:t>
            </a:r>
            <a:endParaRPr lang="en-US" altLang="zh-CN" b="1" dirty="0"/>
          </a:p>
        </p:txBody>
      </p:sp>
      <p:sp>
        <p:nvSpPr>
          <p:cNvPr id="12" name="îşḷiḋe"/>
          <p:cNvSpPr txBox="1"/>
          <p:nvPr>
            <p:custDataLst>
              <p:tags r:id="rId1"/>
            </p:custDataLst>
          </p:nvPr>
        </p:nvSpPr>
        <p:spPr>
          <a:xfrm>
            <a:off x="560069" y="935355"/>
            <a:ext cx="405765" cy="39687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none" lIns="108000" tIns="108000" rIns="108000" bIns="108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endParaRPr kumimoji="1" lang="zh-CN" altLang="en-US" sz="2000" b="1" dirty="0">
              <a:noFill/>
              <a:cs typeface="+mn-ea"/>
              <a:sym typeface="+mn-lt"/>
            </a:endParaRPr>
          </a:p>
        </p:txBody>
      </p:sp>
      <p:sp>
        <p:nvSpPr>
          <p:cNvPr id="13" name="ïṥḷídê"/>
          <p:cNvSpPr/>
          <p:nvPr>
            <p:custDataLst>
              <p:tags r:id="rId2"/>
            </p:custDataLst>
          </p:nvPr>
        </p:nvSpPr>
        <p:spPr>
          <a:xfrm>
            <a:off x="666750" y="1025525"/>
            <a:ext cx="192405" cy="199390"/>
          </a:xfrm>
          <a:custGeom>
            <a:avLst/>
            <a:gdLst>
              <a:gd name="connsiteX0" fmla="*/ 371955 w 495300"/>
              <a:gd name="connsiteY0" fmla="*/ 621 h 523875"/>
              <a:gd name="connsiteX1" fmla="*/ 400530 w 495300"/>
              <a:gd name="connsiteY1" fmla="*/ 29196 h 523875"/>
              <a:gd name="connsiteX2" fmla="*/ 400530 w 495300"/>
              <a:gd name="connsiteY2" fmla="*/ 133971 h 523875"/>
              <a:gd name="connsiteX3" fmla="*/ 371955 w 495300"/>
              <a:gd name="connsiteY3" fmla="*/ 162546 h 523875"/>
              <a:gd name="connsiteX4" fmla="*/ 257655 w 495300"/>
              <a:gd name="connsiteY4" fmla="*/ 162546 h 523875"/>
              <a:gd name="connsiteX5" fmla="*/ 257655 w 495300"/>
              <a:gd name="connsiteY5" fmla="*/ 286371 h 523875"/>
              <a:gd name="connsiteX6" fmla="*/ 419580 w 495300"/>
              <a:gd name="connsiteY6" fmla="*/ 286371 h 523875"/>
              <a:gd name="connsiteX7" fmla="*/ 457680 w 495300"/>
              <a:gd name="connsiteY7" fmla="*/ 322566 h 523875"/>
              <a:gd name="connsiteX8" fmla="*/ 457680 w 495300"/>
              <a:gd name="connsiteY8" fmla="*/ 324471 h 523875"/>
              <a:gd name="connsiteX9" fmla="*/ 457680 w 495300"/>
              <a:gd name="connsiteY9" fmla="*/ 429246 h 523875"/>
              <a:gd name="connsiteX10" fmla="*/ 476730 w 495300"/>
              <a:gd name="connsiteY10" fmla="*/ 429246 h 523875"/>
              <a:gd name="connsiteX11" fmla="*/ 495780 w 495300"/>
              <a:gd name="connsiteY11" fmla="*/ 448296 h 523875"/>
              <a:gd name="connsiteX12" fmla="*/ 495780 w 495300"/>
              <a:gd name="connsiteY12" fmla="*/ 505446 h 523875"/>
              <a:gd name="connsiteX13" fmla="*/ 476730 w 495300"/>
              <a:gd name="connsiteY13" fmla="*/ 524496 h 523875"/>
              <a:gd name="connsiteX14" fmla="*/ 419580 w 495300"/>
              <a:gd name="connsiteY14" fmla="*/ 524496 h 523875"/>
              <a:gd name="connsiteX15" fmla="*/ 400530 w 495300"/>
              <a:gd name="connsiteY15" fmla="*/ 505446 h 523875"/>
              <a:gd name="connsiteX16" fmla="*/ 400530 w 495300"/>
              <a:gd name="connsiteY16" fmla="*/ 448296 h 523875"/>
              <a:gd name="connsiteX17" fmla="*/ 419580 w 495300"/>
              <a:gd name="connsiteY17" fmla="*/ 429246 h 523875"/>
              <a:gd name="connsiteX18" fmla="*/ 438630 w 495300"/>
              <a:gd name="connsiteY18" fmla="*/ 429246 h 523875"/>
              <a:gd name="connsiteX19" fmla="*/ 438630 w 495300"/>
              <a:gd name="connsiteY19" fmla="*/ 324471 h 523875"/>
              <a:gd name="connsiteX20" fmla="*/ 420533 w 495300"/>
              <a:gd name="connsiteY20" fmla="*/ 305421 h 523875"/>
              <a:gd name="connsiteX21" fmla="*/ 419580 w 495300"/>
              <a:gd name="connsiteY21" fmla="*/ 305421 h 523875"/>
              <a:gd name="connsiteX22" fmla="*/ 257655 w 495300"/>
              <a:gd name="connsiteY22" fmla="*/ 305421 h 523875"/>
              <a:gd name="connsiteX23" fmla="*/ 257655 w 495300"/>
              <a:gd name="connsiteY23" fmla="*/ 429246 h 523875"/>
              <a:gd name="connsiteX24" fmla="*/ 276705 w 495300"/>
              <a:gd name="connsiteY24" fmla="*/ 429246 h 523875"/>
              <a:gd name="connsiteX25" fmla="*/ 295755 w 495300"/>
              <a:gd name="connsiteY25" fmla="*/ 448296 h 523875"/>
              <a:gd name="connsiteX26" fmla="*/ 295755 w 495300"/>
              <a:gd name="connsiteY26" fmla="*/ 505446 h 523875"/>
              <a:gd name="connsiteX27" fmla="*/ 276705 w 495300"/>
              <a:gd name="connsiteY27" fmla="*/ 524496 h 523875"/>
              <a:gd name="connsiteX28" fmla="*/ 219555 w 495300"/>
              <a:gd name="connsiteY28" fmla="*/ 524496 h 523875"/>
              <a:gd name="connsiteX29" fmla="*/ 200505 w 495300"/>
              <a:gd name="connsiteY29" fmla="*/ 505446 h 523875"/>
              <a:gd name="connsiteX30" fmla="*/ 200505 w 495300"/>
              <a:gd name="connsiteY30" fmla="*/ 448296 h 523875"/>
              <a:gd name="connsiteX31" fmla="*/ 219555 w 495300"/>
              <a:gd name="connsiteY31" fmla="*/ 429246 h 523875"/>
              <a:gd name="connsiteX32" fmla="*/ 238605 w 495300"/>
              <a:gd name="connsiteY32" fmla="*/ 429246 h 523875"/>
              <a:gd name="connsiteX33" fmla="*/ 238605 w 495300"/>
              <a:gd name="connsiteY33" fmla="*/ 305421 h 523875"/>
              <a:gd name="connsiteX34" fmla="*/ 76680 w 495300"/>
              <a:gd name="connsiteY34" fmla="*/ 305421 h 523875"/>
              <a:gd name="connsiteX35" fmla="*/ 57630 w 495300"/>
              <a:gd name="connsiteY35" fmla="*/ 323519 h 523875"/>
              <a:gd name="connsiteX36" fmla="*/ 57630 w 495300"/>
              <a:gd name="connsiteY36" fmla="*/ 324471 h 523875"/>
              <a:gd name="connsiteX37" fmla="*/ 57630 w 495300"/>
              <a:gd name="connsiteY37" fmla="*/ 429246 h 523875"/>
              <a:gd name="connsiteX38" fmla="*/ 76680 w 495300"/>
              <a:gd name="connsiteY38" fmla="*/ 429246 h 523875"/>
              <a:gd name="connsiteX39" fmla="*/ 95730 w 495300"/>
              <a:gd name="connsiteY39" fmla="*/ 448296 h 523875"/>
              <a:gd name="connsiteX40" fmla="*/ 95730 w 495300"/>
              <a:gd name="connsiteY40" fmla="*/ 505446 h 523875"/>
              <a:gd name="connsiteX41" fmla="*/ 76680 w 495300"/>
              <a:gd name="connsiteY41" fmla="*/ 524496 h 523875"/>
              <a:gd name="connsiteX42" fmla="*/ 19530 w 495300"/>
              <a:gd name="connsiteY42" fmla="*/ 524496 h 523875"/>
              <a:gd name="connsiteX43" fmla="*/ 480 w 495300"/>
              <a:gd name="connsiteY43" fmla="*/ 505446 h 523875"/>
              <a:gd name="connsiteX44" fmla="*/ 480 w 495300"/>
              <a:gd name="connsiteY44" fmla="*/ 448296 h 523875"/>
              <a:gd name="connsiteX45" fmla="*/ 19530 w 495300"/>
              <a:gd name="connsiteY45" fmla="*/ 429246 h 523875"/>
              <a:gd name="connsiteX46" fmla="*/ 38580 w 495300"/>
              <a:gd name="connsiteY46" fmla="*/ 429246 h 523875"/>
              <a:gd name="connsiteX47" fmla="*/ 38580 w 495300"/>
              <a:gd name="connsiteY47" fmla="*/ 324471 h 523875"/>
              <a:gd name="connsiteX48" fmla="*/ 74775 w 495300"/>
              <a:gd name="connsiteY48" fmla="*/ 286371 h 523875"/>
              <a:gd name="connsiteX49" fmla="*/ 76680 w 495300"/>
              <a:gd name="connsiteY49" fmla="*/ 286371 h 523875"/>
              <a:gd name="connsiteX50" fmla="*/ 238605 w 495300"/>
              <a:gd name="connsiteY50" fmla="*/ 286371 h 523875"/>
              <a:gd name="connsiteX51" fmla="*/ 238605 w 495300"/>
              <a:gd name="connsiteY51" fmla="*/ 162546 h 523875"/>
              <a:gd name="connsiteX52" fmla="*/ 124305 w 495300"/>
              <a:gd name="connsiteY52" fmla="*/ 162546 h 523875"/>
              <a:gd name="connsiteX53" fmla="*/ 95730 w 495300"/>
              <a:gd name="connsiteY53" fmla="*/ 133971 h 523875"/>
              <a:gd name="connsiteX54" fmla="*/ 95730 w 495300"/>
              <a:gd name="connsiteY54" fmla="*/ 29196 h 523875"/>
              <a:gd name="connsiteX55" fmla="*/ 124305 w 495300"/>
              <a:gd name="connsiteY55" fmla="*/ 621 h 523875"/>
              <a:gd name="connsiteX56" fmla="*/ 371955 w 495300"/>
              <a:gd name="connsiteY56" fmla="*/ 621 h 523875"/>
              <a:gd name="connsiteX57" fmla="*/ 148118 w 495300"/>
              <a:gd name="connsiteY57" fmla="*/ 95871 h 523875"/>
              <a:gd name="connsiteX58" fmla="*/ 133830 w 495300"/>
              <a:gd name="connsiteY58" fmla="*/ 110159 h 523875"/>
              <a:gd name="connsiteX59" fmla="*/ 148118 w 495300"/>
              <a:gd name="connsiteY59" fmla="*/ 124446 h 523875"/>
              <a:gd name="connsiteX60" fmla="*/ 162405 w 495300"/>
              <a:gd name="connsiteY60" fmla="*/ 110159 h 523875"/>
              <a:gd name="connsiteX61" fmla="*/ 148118 w 495300"/>
              <a:gd name="connsiteY61" fmla="*/ 95871 h 5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495300" h="523875">
                <a:moveTo>
                  <a:pt x="371955" y="621"/>
                </a:moveTo>
                <a:cubicBezTo>
                  <a:pt x="388148" y="621"/>
                  <a:pt x="400530" y="13004"/>
                  <a:pt x="400530" y="29196"/>
                </a:cubicBezTo>
                <a:lnTo>
                  <a:pt x="400530" y="133971"/>
                </a:lnTo>
                <a:cubicBezTo>
                  <a:pt x="400530" y="150164"/>
                  <a:pt x="388148" y="162546"/>
                  <a:pt x="371955" y="162546"/>
                </a:cubicBezTo>
                <a:lnTo>
                  <a:pt x="257655" y="162546"/>
                </a:lnTo>
                <a:lnTo>
                  <a:pt x="257655" y="286371"/>
                </a:lnTo>
                <a:lnTo>
                  <a:pt x="419580" y="286371"/>
                </a:lnTo>
                <a:cubicBezTo>
                  <a:pt x="439583" y="286371"/>
                  <a:pt x="456727" y="302564"/>
                  <a:pt x="457680" y="322566"/>
                </a:cubicBezTo>
                <a:lnTo>
                  <a:pt x="457680" y="324471"/>
                </a:lnTo>
                <a:lnTo>
                  <a:pt x="457680" y="429246"/>
                </a:lnTo>
                <a:lnTo>
                  <a:pt x="476730" y="429246"/>
                </a:lnTo>
                <a:cubicBezTo>
                  <a:pt x="487208" y="429246"/>
                  <a:pt x="495780" y="437819"/>
                  <a:pt x="495780" y="448296"/>
                </a:cubicBezTo>
                <a:lnTo>
                  <a:pt x="495780" y="505446"/>
                </a:lnTo>
                <a:cubicBezTo>
                  <a:pt x="495780" y="515924"/>
                  <a:pt x="487208" y="524496"/>
                  <a:pt x="476730" y="524496"/>
                </a:cubicBezTo>
                <a:lnTo>
                  <a:pt x="419580" y="524496"/>
                </a:lnTo>
                <a:cubicBezTo>
                  <a:pt x="409102" y="524496"/>
                  <a:pt x="400530" y="515924"/>
                  <a:pt x="400530" y="505446"/>
                </a:cubicBezTo>
                <a:lnTo>
                  <a:pt x="400530" y="448296"/>
                </a:lnTo>
                <a:cubicBezTo>
                  <a:pt x="400530" y="437819"/>
                  <a:pt x="409102" y="429246"/>
                  <a:pt x="419580" y="429246"/>
                </a:cubicBezTo>
                <a:lnTo>
                  <a:pt x="438630" y="429246"/>
                </a:lnTo>
                <a:lnTo>
                  <a:pt x="438630" y="324471"/>
                </a:lnTo>
                <a:cubicBezTo>
                  <a:pt x="438630" y="313994"/>
                  <a:pt x="431010" y="306374"/>
                  <a:pt x="420533" y="305421"/>
                </a:cubicBezTo>
                <a:lnTo>
                  <a:pt x="419580" y="305421"/>
                </a:lnTo>
                <a:lnTo>
                  <a:pt x="257655" y="305421"/>
                </a:lnTo>
                <a:lnTo>
                  <a:pt x="257655" y="429246"/>
                </a:lnTo>
                <a:lnTo>
                  <a:pt x="276705" y="429246"/>
                </a:lnTo>
                <a:cubicBezTo>
                  <a:pt x="287183" y="429246"/>
                  <a:pt x="295755" y="437819"/>
                  <a:pt x="295755" y="448296"/>
                </a:cubicBezTo>
                <a:lnTo>
                  <a:pt x="295755" y="505446"/>
                </a:lnTo>
                <a:cubicBezTo>
                  <a:pt x="295755" y="515924"/>
                  <a:pt x="287183" y="524496"/>
                  <a:pt x="276705" y="524496"/>
                </a:cubicBezTo>
                <a:lnTo>
                  <a:pt x="219555" y="524496"/>
                </a:lnTo>
                <a:cubicBezTo>
                  <a:pt x="209077" y="524496"/>
                  <a:pt x="200505" y="515924"/>
                  <a:pt x="200505" y="505446"/>
                </a:cubicBezTo>
                <a:lnTo>
                  <a:pt x="200505" y="448296"/>
                </a:lnTo>
                <a:cubicBezTo>
                  <a:pt x="200505" y="437819"/>
                  <a:pt x="209077" y="429246"/>
                  <a:pt x="219555" y="429246"/>
                </a:cubicBezTo>
                <a:lnTo>
                  <a:pt x="238605" y="429246"/>
                </a:lnTo>
                <a:lnTo>
                  <a:pt x="238605" y="305421"/>
                </a:lnTo>
                <a:lnTo>
                  <a:pt x="76680" y="305421"/>
                </a:lnTo>
                <a:cubicBezTo>
                  <a:pt x="66202" y="305421"/>
                  <a:pt x="58583" y="313041"/>
                  <a:pt x="57630" y="323519"/>
                </a:cubicBezTo>
                <a:lnTo>
                  <a:pt x="57630" y="324471"/>
                </a:lnTo>
                <a:lnTo>
                  <a:pt x="57630" y="429246"/>
                </a:lnTo>
                <a:lnTo>
                  <a:pt x="76680" y="429246"/>
                </a:lnTo>
                <a:cubicBezTo>
                  <a:pt x="87158" y="429246"/>
                  <a:pt x="95730" y="437819"/>
                  <a:pt x="95730" y="448296"/>
                </a:cubicBezTo>
                <a:lnTo>
                  <a:pt x="95730" y="505446"/>
                </a:lnTo>
                <a:cubicBezTo>
                  <a:pt x="95730" y="515924"/>
                  <a:pt x="87158" y="524496"/>
                  <a:pt x="76680" y="524496"/>
                </a:cubicBezTo>
                <a:lnTo>
                  <a:pt x="19530" y="524496"/>
                </a:lnTo>
                <a:cubicBezTo>
                  <a:pt x="9052" y="524496"/>
                  <a:pt x="480" y="515924"/>
                  <a:pt x="480" y="505446"/>
                </a:cubicBezTo>
                <a:lnTo>
                  <a:pt x="480" y="448296"/>
                </a:lnTo>
                <a:cubicBezTo>
                  <a:pt x="480" y="437819"/>
                  <a:pt x="9052" y="429246"/>
                  <a:pt x="19530" y="429246"/>
                </a:cubicBezTo>
                <a:lnTo>
                  <a:pt x="38580" y="429246"/>
                </a:lnTo>
                <a:lnTo>
                  <a:pt x="38580" y="324471"/>
                </a:lnTo>
                <a:cubicBezTo>
                  <a:pt x="38580" y="304469"/>
                  <a:pt x="54773" y="287324"/>
                  <a:pt x="74775" y="286371"/>
                </a:cubicBezTo>
                <a:lnTo>
                  <a:pt x="76680" y="286371"/>
                </a:lnTo>
                <a:lnTo>
                  <a:pt x="238605" y="286371"/>
                </a:lnTo>
                <a:lnTo>
                  <a:pt x="238605" y="162546"/>
                </a:lnTo>
                <a:lnTo>
                  <a:pt x="124305" y="162546"/>
                </a:lnTo>
                <a:cubicBezTo>
                  <a:pt x="108112" y="162546"/>
                  <a:pt x="95730" y="150164"/>
                  <a:pt x="95730" y="133971"/>
                </a:cubicBezTo>
                <a:lnTo>
                  <a:pt x="95730" y="29196"/>
                </a:lnTo>
                <a:cubicBezTo>
                  <a:pt x="95730" y="13004"/>
                  <a:pt x="108112" y="621"/>
                  <a:pt x="124305" y="621"/>
                </a:cubicBezTo>
                <a:lnTo>
                  <a:pt x="371955" y="621"/>
                </a:lnTo>
                <a:close/>
                <a:moveTo>
                  <a:pt x="148118" y="95871"/>
                </a:moveTo>
                <a:cubicBezTo>
                  <a:pt x="140498" y="95871"/>
                  <a:pt x="133830" y="102539"/>
                  <a:pt x="133830" y="110159"/>
                </a:cubicBezTo>
                <a:cubicBezTo>
                  <a:pt x="133830" y="117779"/>
                  <a:pt x="140498" y="124446"/>
                  <a:pt x="148118" y="124446"/>
                </a:cubicBezTo>
                <a:cubicBezTo>
                  <a:pt x="155737" y="124446"/>
                  <a:pt x="162405" y="117779"/>
                  <a:pt x="162405" y="110159"/>
                </a:cubicBezTo>
                <a:cubicBezTo>
                  <a:pt x="162405" y="102539"/>
                  <a:pt x="155737" y="95871"/>
                  <a:pt x="148118" y="95871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84909" y="1796891"/>
            <a:ext cx="9610681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effectLst/>
                <a:sym typeface="+mn-ea"/>
              </a:rPr>
              <a:t>结合特定场景数据，通过</a:t>
            </a:r>
            <a:r>
              <a:rPr lang="en-US" altLang="zh-CN" dirty="0" err="1">
                <a:sym typeface="+mn-ea"/>
              </a:rPr>
              <a:t>L</a:t>
            </a:r>
            <a:r>
              <a:rPr lang="en-US" altLang="zh-CN" dirty="0" err="1">
                <a:effectLst/>
                <a:sym typeface="+mn-ea"/>
              </a:rPr>
              <a:t>oRA</a:t>
            </a:r>
            <a:r>
              <a:rPr lang="zh-CN" altLang="en-US" dirty="0">
                <a:effectLst/>
                <a:sym typeface="+mn-ea"/>
              </a:rPr>
              <a:t>微调大</a:t>
            </a:r>
            <a:r>
              <a:rPr lang="zh-CN" altLang="en-US" dirty="0" smtClean="0">
                <a:effectLst/>
                <a:sym typeface="+mn-ea"/>
              </a:rPr>
              <a:t>模型</a:t>
            </a:r>
            <a:r>
              <a:rPr lang="en-US" altLang="zh-CN" dirty="0" smtClean="0">
                <a:sym typeface="+mn-ea"/>
              </a:rPr>
              <a:t>qwen3</a:t>
            </a:r>
            <a:r>
              <a:rPr lang="en-US" altLang="zh-CN" dirty="0" smtClean="0">
                <a:effectLst/>
                <a:sym typeface="+mn-ea"/>
              </a:rPr>
              <a:t>(8B</a:t>
            </a:r>
            <a:r>
              <a:rPr lang="en-US" altLang="zh-CN" dirty="0">
                <a:effectLst/>
                <a:sym typeface="+mn-ea"/>
              </a:rPr>
              <a:t>)</a:t>
            </a:r>
            <a:r>
              <a:rPr lang="zh-CN" altLang="en-US" dirty="0">
                <a:effectLst/>
                <a:sym typeface="+mn-ea"/>
              </a:rPr>
              <a:t>，从短文本数据中提取三元组信息。帮助构建知识图谱。</a:t>
            </a:r>
            <a:endParaRPr lang="zh-CN" altLang="en-US" dirty="0">
              <a:effectLst/>
              <a:sym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552" y="2925269"/>
            <a:ext cx="3963035" cy="339979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705600" y="2507615"/>
            <a:ext cx="449580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dirty="0">
                <a:effectLst/>
                <a:sym typeface="+mn-ea"/>
              </a:rPr>
              <a:t>基于</a:t>
            </a:r>
            <a:r>
              <a:rPr lang="en-US" altLang="zh-CN" sz="1600" dirty="0">
                <a:effectLst/>
                <a:sym typeface="+mn-ea"/>
              </a:rPr>
              <a:t>LlamaFactory</a:t>
            </a:r>
            <a:r>
              <a:rPr lang="zh-CN" altLang="en-US" sz="1600" dirty="0">
                <a:effectLst/>
                <a:sym typeface="+mn-ea"/>
              </a:rPr>
              <a:t>，微调</a:t>
            </a:r>
            <a:r>
              <a:rPr lang="en-US" altLang="zh-CN" sz="1600" dirty="0">
                <a:effectLst/>
                <a:sym typeface="+mn-ea"/>
              </a:rPr>
              <a:t>Meta-Llama3.1-8b-Instruct</a:t>
            </a:r>
            <a:endParaRPr lang="en-US" altLang="zh-CN" sz="1600" dirty="0">
              <a:effectLst/>
              <a:sym typeface="+mn-ea"/>
            </a:endParaRPr>
          </a:p>
        </p:txBody>
      </p:sp>
      <p:graphicFrame>
        <p:nvGraphicFramePr>
          <p:cNvPr id="18" name="对象 1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65834" y="3066023"/>
          <a:ext cx="4191635" cy="3404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" r:id="rId4" imgW="6804025" imgH="5525770" progId="Visio.Drawing.15">
                  <p:embed/>
                </p:oleObj>
              </mc:Choice>
              <mc:Fallback>
                <p:oleObj name="" r:id="rId4" imgW="6804025" imgH="5525770" progId="Visio.Drawing.15">
                  <p:embed/>
                  <p:pic>
                    <p:nvPicPr>
                      <p:cNvPr id="0" name="对象 2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65834" y="3066023"/>
                        <a:ext cx="4191635" cy="3404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3"/>
          <p:cNvSpPr>
            <a:spLocks noGrp="1"/>
          </p:cNvSpPr>
          <p:nvPr>
            <p:ph type="title"/>
          </p:nvPr>
        </p:nvSpPr>
        <p:spPr>
          <a:xfrm>
            <a:off x="670719" y="501168"/>
            <a:ext cx="8493160" cy="362434"/>
          </a:xfrm>
        </p:spPr>
        <p:txBody>
          <a:bodyPr>
            <a:normAutofit fontScale="90000"/>
          </a:bodyPr>
          <a:lstStyle/>
          <a:p>
            <a:r>
              <a:rPr dirty="0" err="1" smtClean="0">
                <a:sym typeface="+mn-ea"/>
              </a:rPr>
              <a:t>模型训练</a:t>
            </a:r>
            <a:r>
              <a:rPr lang="en-US" altLang="zh-CN" dirty="0" smtClean="0">
                <a:sym typeface="+mn-ea"/>
              </a:rPr>
              <a:t>(</a:t>
            </a:r>
            <a:r>
              <a:rPr dirty="0" smtClean="0">
                <a:sym typeface="+mn-ea"/>
              </a:rPr>
              <a:t>SFT</a:t>
            </a:r>
            <a:r>
              <a:rPr lang="en-US" altLang="zh-CN" dirty="0" smtClean="0">
                <a:sym typeface="+mn-ea"/>
              </a:rPr>
              <a:t>)</a:t>
            </a:r>
            <a:endParaRPr lang="en-US" altLang="zh-CN" dirty="0">
              <a:sym typeface="+mn-ea"/>
            </a:endParaRPr>
          </a:p>
        </p:txBody>
      </p:sp>
      <p:sp>
        <p:nvSpPr>
          <p:cNvPr id="17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9223403" y="6405427"/>
            <a:ext cx="2743200" cy="241952"/>
          </a:xfrm>
        </p:spPr>
        <p:txBody>
          <a:bodyPr/>
          <a:lstStyle/>
          <a:p>
            <a:fld id="{C7E0F366-3AB4-DC44-892D-2AC1A2158BB9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74625" y="1016000"/>
            <a:ext cx="5819140" cy="50158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r>
              <a:rPr lang="zh-CN" altLang="en-US" sz="1600"/>
              <a:t># Supervised Fine-Tuning(SFT)</a:t>
            </a:r>
            <a:endParaRPr lang="zh-CN" altLang="en-US" sz="1600"/>
          </a:p>
          <a:p>
            <a:r>
              <a:rPr lang="zh-CN" altLang="en-US" sz="1600"/>
              <a:t>CUDA_VISIBLE_DEVICES=2 python src/train_bash.py \</a:t>
            </a:r>
            <a:endParaRPr lang="zh-CN" altLang="en-US" sz="1600"/>
          </a:p>
          <a:p>
            <a:r>
              <a:rPr lang="zh-CN" altLang="en-US" sz="1600"/>
              <a:t>    --stage sft \</a:t>
            </a:r>
            <a:endParaRPr lang="zh-CN" altLang="en-US" sz="1600"/>
          </a:p>
          <a:p>
            <a:r>
              <a:rPr lang="zh-CN" altLang="en-US" sz="1600"/>
              <a:t>    --model_name_or_path ../baichuan2-13B/ \</a:t>
            </a:r>
            <a:endParaRPr lang="zh-CN" altLang="en-US" sz="1600"/>
          </a:p>
          <a:p>
            <a:r>
              <a:rPr lang="zh-CN" altLang="en-US" sz="1600"/>
              <a:t>    --do_train \</a:t>
            </a:r>
            <a:endParaRPr lang="zh-CN" altLang="en-US" sz="1600"/>
          </a:p>
          <a:p>
            <a:r>
              <a:rPr lang="zh-CN" altLang="en-US" sz="1600"/>
              <a:t>    --dataset alpaca_gpt4_en \</a:t>
            </a:r>
            <a:endParaRPr lang="zh-CN" altLang="en-US" sz="1600"/>
          </a:p>
          <a:p>
            <a:r>
              <a:rPr lang="zh-CN" altLang="en-US" sz="1600"/>
              <a:t>    --template default \</a:t>
            </a:r>
            <a:endParaRPr lang="zh-CN" altLang="en-US" sz="1600"/>
          </a:p>
          <a:p>
            <a:r>
              <a:rPr lang="zh-CN" altLang="en-US" sz="1600"/>
              <a:t>    --finetuning_type lora \</a:t>
            </a:r>
            <a:endParaRPr lang="zh-CN" altLang="en-US" sz="1600"/>
          </a:p>
          <a:p>
            <a:r>
              <a:rPr lang="zh-CN" altLang="en-US" sz="1600"/>
              <a:t>    --lora_target W_pack,o_proj,gate_proj,up_proj,down_proj \</a:t>
            </a:r>
            <a:endParaRPr lang="zh-CN" altLang="en-US" sz="1600"/>
          </a:p>
          <a:p>
            <a:r>
              <a:rPr lang="zh-CN" altLang="en-US" sz="1600"/>
              <a:t>    --output_dir path_to_sft_checkpoint \</a:t>
            </a:r>
            <a:endParaRPr lang="zh-CN" altLang="en-US" sz="1600"/>
          </a:p>
          <a:p>
            <a:r>
              <a:rPr lang="zh-CN" altLang="en-US" sz="1600"/>
              <a:t>    --overwrite_cache \</a:t>
            </a:r>
            <a:endParaRPr lang="zh-CN" altLang="en-US" sz="1600"/>
          </a:p>
          <a:p>
            <a:r>
              <a:rPr lang="zh-CN" altLang="en-US" sz="1600"/>
              <a:t>    --per_device_train_batch_size 4 \</a:t>
            </a:r>
            <a:endParaRPr lang="zh-CN" altLang="en-US" sz="1600"/>
          </a:p>
          <a:p>
            <a:r>
              <a:rPr lang="zh-CN" altLang="en-US" sz="1600"/>
              <a:t>    --gradient_accumulation_steps 4 \</a:t>
            </a:r>
            <a:endParaRPr lang="zh-CN" altLang="en-US" sz="1600"/>
          </a:p>
          <a:p>
            <a:r>
              <a:rPr lang="zh-CN" altLang="en-US" sz="1600"/>
              <a:t>    --lr_scheduler_type cosine \</a:t>
            </a:r>
            <a:endParaRPr lang="zh-CN" altLang="en-US" sz="1600"/>
          </a:p>
          <a:p>
            <a:r>
              <a:rPr lang="zh-CN" altLang="en-US" sz="1600"/>
              <a:t>    --logging_steps 10 \</a:t>
            </a:r>
            <a:endParaRPr lang="zh-CN" altLang="en-US" sz="1600"/>
          </a:p>
          <a:p>
            <a:r>
              <a:rPr lang="zh-CN" altLang="en-US" sz="1600"/>
              <a:t>    --save_steps 1000 \</a:t>
            </a:r>
            <a:endParaRPr lang="zh-CN" altLang="en-US" sz="1600"/>
          </a:p>
          <a:p>
            <a:r>
              <a:rPr lang="zh-CN" altLang="en-US" sz="1600"/>
              <a:t>    --learning_rate 5e-5 \</a:t>
            </a:r>
            <a:endParaRPr lang="zh-CN" altLang="en-US" sz="1600"/>
          </a:p>
          <a:p>
            <a:r>
              <a:rPr lang="zh-CN" altLang="en-US" sz="1600"/>
              <a:t>    --num_train_epochs 3.0 \</a:t>
            </a:r>
            <a:endParaRPr lang="zh-CN" altLang="en-US" sz="1600"/>
          </a:p>
          <a:p>
            <a:r>
              <a:rPr lang="zh-CN" altLang="en-US" sz="1600"/>
              <a:t>    --plot_loss \</a:t>
            </a:r>
            <a:endParaRPr lang="zh-CN" altLang="en-US" sz="1600"/>
          </a:p>
          <a:p>
            <a:r>
              <a:rPr lang="zh-CN" altLang="en-US" sz="1600"/>
              <a:t>    --fp16</a:t>
            </a:r>
            <a:endParaRPr lang="zh-CN" altLang="en-US" sz="160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8788" y="3025648"/>
            <a:ext cx="6034405" cy="350075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788" y="932859"/>
            <a:ext cx="5686865" cy="19074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3"/>
          <p:cNvSpPr>
            <a:spLocks noGrp="1"/>
          </p:cNvSpPr>
          <p:nvPr>
            <p:ph type="title"/>
          </p:nvPr>
        </p:nvSpPr>
        <p:spPr>
          <a:xfrm>
            <a:off x="670719" y="501168"/>
            <a:ext cx="8493160" cy="362434"/>
          </a:xfrm>
        </p:spPr>
        <p:txBody>
          <a:bodyPr>
            <a:normAutofit fontScale="90000"/>
          </a:bodyPr>
          <a:lstStyle/>
          <a:p>
            <a:r>
              <a:rPr dirty="0" err="1" smtClean="0">
                <a:sym typeface="+mn-ea"/>
              </a:rPr>
              <a:t>模型</a:t>
            </a:r>
            <a:r>
              <a:rPr lang="zh-CN" altLang="en-US" dirty="0">
                <a:sym typeface="+mn-ea"/>
              </a:rPr>
              <a:t>评估</a:t>
            </a:r>
            <a:endParaRPr lang="en-US" altLang="zh-CN" dirty="0">
              <a:sym typeface="+mn-ea"/>
            </a:endParaRPr>
          </a:p>
        </p:txBody>
      </p:sp>
      <p:sp>
        <p:nvSpPr>
          <p:cNvPr id="17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9223403" y="6405427"/>
            <a:ext cx="2743200" cy="241952"/>
          </a:xfrm>
        </p:spPr>
        <p:txBody>
          <a:bodyPr/>
          <a:lstStyle/>
          <a:p>
            <a:fld id="{C7E0F366-3AB4-DC44-892D-2AC1A2158BB9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4330" y="1223298"/>
            <a:ext cx="5850957" cy="48283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855" y="1223298"/>
            <a:ext cx="6165864" cy="482836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8.56133858267714,&quot;left&quot;:97.34645669291339,&quot;top&quot;:129.7628346456693,&quot;width&quot;:720.2162992125984}"/>
</p:tagLst>
</file>

<file path=ppt/tags/tag2.xml><?xml version="1.0" encoding="utf-8"?>
<p:tagLst xmlns:p="http://schemas.openxmlformats.org/presentationml/2006/main">
  <p:tag name="KSO_WM_DIAGRAM_VIRTUALLY_FRAME" val="{&quot;height&quot;:278.56133858267714,&quot;left&quot;:97.34645669291339,&quot;top&quot;:129.7628346456693,&quot;width&quot;:720.2162992125984}"/>
</p:tagLst>
</file>

<file path=ppt/tags/tag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736</Words>
  <Application>WPS 演示</Application>
  <PresentationFormat>宽屏</PresentationFormat>
  <Paragraphs>37</Paragraphs>
  <Slides>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等线 Light</vt:lpstr>
      <vt:lpstr>等线</vt:lpstr>
      <vt:lpstr>微软雅黑</vt:lpstr>
      <vt:lpstr>Arial Unicode MS</vt:lpstr>
      <vt:lpstr>Calibri</vt:lpstr>
      <vt:lpstr>Wingdings</vt:lpstr>
      <vt:lpstr>Office 主题​​</vt:lpstr>
      <vt:lpstr>Visio.Drawing.15</vt:lpstr>
      <vt:lpstr>PowerPoint 演示文稿</vt:lpstr>
      <vt:lpstr>模型训练(SFT)</vt:lpstr>
      <vt:lpstr>模型评估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邹章晨</dc:creator>
  <cp:lastModifiedBy>langd</cp:lastModifiedBy>
  <cp:revision>8</cp:revision>
  <dcterms:created xsi:type="dcterms:W3CDTF">2025-07-16T02:31:00Z</dcterms:created>
  <dcterms:modified xsi:type="dcterms:W3CDTF">2026-04-12T13:17:34Z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E5EAA4B281E7405D9143FF4203B548C2_12</vt:lpwstr>
  </property>
  <property fmtid="{D5CDD505-2E9C-101B-9397-08002B2CF9AE}" pid="3" name="KSOProductBuildVer">
    <vt:lpwstr>2052-12.1.0.22529</vt:lpwstr>
  </property>
</Properties>
</file>