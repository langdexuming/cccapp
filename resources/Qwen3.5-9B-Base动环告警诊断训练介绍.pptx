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基于 Qwen3.5-9B-Base 的动环监控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告警诊断场景 LoRA-SFT 训练介绍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DDFF"/>
                </a:solidFill>
                <a:latin typeface="Microsoft YaHei"/>
              </a:defRPr>
            </a:pPr>
            <a:r>
              <a:t>训练框架：ms-swift  |  训练方式：LoRA-SFT  |  重点案例：温度过高告警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BBDD"/>
                </a:solidFill>
                <a:latin typeface="Microsoft YaHei"/>
              </a:defRPr>
            </a:pPr>
            <a:r>
              <a:t>ai_trains 训练工作台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601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一、项目背景与业务场景</a:t>
            </a:r>
          </a:p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二、模型选型：Qwen3.5-9B-Base</a:t>
            </a:r>
          </a:p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三、数据准备：温度过高告警 SFT 数据</a:t>
            </a:r>
          </a:p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四、环境搭建：ms-swift 安装配置</a:t>
            </a:r>
          </a:p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五、训练配置：LoRA-SFT 参数</a:t>
            </a:r>
          </a:p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六、训练执行：swift sft 命令</a:t>
            </a:r>
          </a:p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七、模型导出：LoRA 合并与量化</a:t>
            </a:r>
          </a:p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八、模型部署：Ollama 与 vLLM</a:t>
            </a:r>
          </a:p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九、推理验证：vLLM 温度过高告警案例</a:t>
            </a:r>
          </a:p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十、效果评测：离线评测与对比报告</a:t>
            </a:r>
          </a:p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十一、平台集成：训练工作台闭环</a:t>
            </a:r>
          </a:p>
          <a:p>
            <a:pPr algn="l"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• 十二、运行产物与效果展示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一、项目背景与业务场景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动环监控平台 × 大模型告警诊断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业务痛点：告警量大、跨设备关联复杂，人工排障难以稳定输出根因、影响范围和处置建议</a:t>
            </a:r>
          </a:p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核心目标：围绕模型训练构建可复用工作台，沉淀训练、推理验证、对比评测三类能力</a:t>
            </a:r>
          </a:p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专业场景：告警诊断只是首个方向，后续可扩展巡检问答、知识库问答、运维工单生成等场景</a:t>
            </a:r>
          </a:p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示例主线：本文以“温湿度01 温度高”告警为例，贯穿训练样本、推理请求和 vLLM 验证</a:t>
            </a:r>
          </a:p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• 目标模型：优先使用 Qwen3.5-9B-Base + ms-swift LoRA-SFT，兼容一期 LLaMA-Factory 方案</a:t>
            </a:r>
          </a:p>
        </p:txBody>
      </p:sp>
      <p:sp>
        <p:nvSpPr>
          <p:cNvPr id="5" name="TextBox 4"/>
          <p:cNvSpPr txBox="1"/>
          <p:nvPr/>
        </p:nvSpPr>
        <p:spPr>
          <a:solidFill>
            <a:srgbClr val="F0F0F0"/>
          </a:solidFill>
          <a:xfrm>
            <a:off x="731520" y="4343400"/>
            <a:ext cx="4572000" cy="1645920"/>
          </a:xfrm>
          <a:prstGeom prst="rect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截图预留：动环监控平台告警页面截图</a:t>
            </a:r>
          </a:p>
          <a:p>
            <a:pPr algn="ctr"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（请在此处粘贴实际截图）</a:t>
            </a:r>
          </a:p>
        </p:txBody>
      </p:sp>
      <p:sp>
        <p:nvSpPr>
          <p:cNvPr id="6" name="TextBox 5"/>
          <p:cNvSpPr txBox="1"/>
          <p:nvPr/>
        </p:nvSpPr>
        <p:spPr>
          <a:solidFill>
            <a:srgbClr val="F0F0F0"/>
          </a:solidFill>
          <a:xfrm>
            <a:off x="5943600" y="4343400"/>
            <a:ext cx="5029200" cy="1645920"/>
          </a:xfrm>
          <a:prstGeom prst="rect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截图预留：温度过高告警诊断结果页截图</a:t>
            </a:r>
          </a:p>
          <a:p>
            <a:pPr algn="ctr"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（请在此处粘贴实际截图）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一、业务场景：温度过高告警训练/推理样例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统一用一个案例讲清训练输入、推理输出和评测口径</a:t>
            </a:r>
          </a:p>
        </p:txBody>
      </p:sp>
      <p:sp>
        <p:nvSpPr>
          <p:cNvPr id="4" name="TextBox 3"/>
          <p:cNvSpPr txBox="1"/>
          <p:nvPr/>
        </p:nvSpPr>
        <p:spPr>
          <a:solidFill>
            <a:srgbClr val="1E1E2E"/>
          </a:solidFill>
          <a:xfrm>
            <a:off x="365760" y="13716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// 输入（温度过高告警样例）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告警设备名称：温湿度01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告警设备编码：03202206221157_170100000000003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告警开始时间：2025-12-18 19:28:48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告警信号名称：温度高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测点：017301000 / 温度01 / 35.2度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采集时间：2023-10-05 14:30:00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伴随现象：门磁告警同时出现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同站点其他区域温度正常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空调运行状态显示异常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候选方向：空调系统故障 / 温度传感器故障</a:t>
            </a:r>
          </a:p>
        </p:txBody>
      </p:sp>
      <p:sp>
        <p:nvSpPr>
          <p:cNvPr id="5" name="TextBox 4"/>
          <p:cNvSpPr txBox="1"/>
          <p:nvPr/>
        </p:nvSpPr>
        <p:spPr>
          <a:solidFill>
            <a:srgbClr val="1E1E2E"/>
          </a:solidFill>
          <a:xfrm>
            <a:off x="5852160" y="137160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// 输出（期望诊断报告）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诊断结论：机房温度异常升高，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主要由空调系统故障引起。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处理建议：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1. 优先排查空调压缩机运行状态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2. 查看空调系统日志定位异常原因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3. 校准温度传感器，排除误报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成因分析：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1. 空调系统故障导致制冷不足 (85%)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 证据：温度持续 &gt;35℃，空调状态异常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2. 温度传感器故障 (70%)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 证据：其他传感器正常，需复核温感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79A"/>
                </a:solidFill>
                <a:latin typeface="Microsoft YaHei"/>
              </a:defRPr>
            </a:pPr>
            <a:r>
              <a:t>分析过程建议保留五步：检查告警时间点 → 对比同站点数据 → 分析历史趋势 → 排除传感器故障 → 核验空调日志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二、模型选型：Qwen3.5-9B-Base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为什么在本项目中优先选择 9B-Base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09728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模型规模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9B 参数量，适合作为动环垂直领域训练的主力模型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Base vs Instruct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Base 模型便于通过 SFT 注入统一的诊断格式和专业术语风格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中文与工程能力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适配设备名、测点值、时间戳等中文结构化文本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长上下文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可容纳较长告警摘要、历史日志与多设备关联信息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部署兼容性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训练后既可导出 GGUF 给 Ollama，也可直接使用 merged 模型给 vLLM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二期扩展性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后续可平滑扩展到 Qwen3.5-9B 与其他专业场景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579A"/>
                </a:solidFill>
                <a:latin typeface="Microsoft YaHei"/>
              </a:defRPr>
            </a:pPr>
            <a:r>
              <a:t>模型 ID：Qwen/Qwen3.5-9B-Base    模板：qwen3    训练框架：ms-swift (LoRA-SFT)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三、数据准备：温度过高告警 SFT 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训练集来自真实告警，测试集围绕高温场景做模拟补充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579A"/>
                </a:solidFill>
                <a:latin typeface="Microsoft YaHei"/>
              </a:defRPr>
            </a:pPr>
            <a:r>
              <a:t>数据加工链路：原始告警 JSON → 压缩整理 → 根因/建议抽取 → SFT 样本构建 → 训练/评测集切分</a:t>
            </a:r>
          </a:p>
        </p:txBody>
      </p:sp>
      <p:sp>
        <p:nvSpPr>
          <p:cNvPr id="5" name="TextBox 4"/>
          <p:cNvSpPr txBox="1"/>
          <p:nvPr/>
        </p:nvSpPr>
        <p:spPr>
          <a:solidFill>
            <a:srgbClr val="1E1E2E"/>
          </a:solidFill>
          <a:xfrm>
            <a:off x="365760" y="178308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生成训练/评测集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python scripts/prepare_alarm_analysis_datasets.py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--source resources/alarm_analysis.json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--datasets-root runtime/datasets \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--swift-train-version alarm_analysis_swift_sft_v1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--eval-version alarm_analysis_eval_v1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--eval-count 64 --seed 42</a:t>
            </a:r>
          </a:p>
        </p:txBody>
      </p:sp>
      <p:sp>
        <p:nvSpPr>
          <p:cNvPr id="6" name="TextBox 5"/>
          <p:cNvSpPr txBox="1"/>
          <p:nvPr/>
        </p:nvSpPr>
        <p:spPr>
          <a:solidFill>
            <a:srgbClr val="1E1E2E"/>
          </a:solidFill>
          <a:xfrm>
            <a:off x="5989320" y="1783080"/>
            <a:ext cx="5440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F8F8F2"/>
                </a:solidFill>
                <a:latin typeface="Consolas"/>
              </a:defRPr>
            </a:pPr>
            <a:r>
              <a:t>{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"messages": [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  {"role":"system","content":"你是机房设备运维专家"},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    {"role":"user","content":"告警设备名称：温湿度01 ..."},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  {"role":"assistant","content":"诊断结论：机房温度异常升高 ..."}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]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}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4526280"/>
          <a:ext cx="109728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数据集/子集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格式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alarm_analysis_swift_sft_v1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JSONL(messages)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ms-swift 训练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主训练集，覆盖空调/UPS/市电/温湿度等场景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temperature_high_train_cases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样例子集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专题抽样检查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从真实样本中抽取温度高/温度过高案例用于人工复核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temperature_high_eval_mock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JSONL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推理验证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模拟 6-12 条高温样例，覆盖空调故障和传感器误报两类标签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四、环境搭建：ms-swift 安装配置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建议在 WSL 中部署，根目录按项目约定放在 E:\wsl</a:t>
            </a:r>
          </a:p>
        </p:txBody>
      </p:sp>
      <p:sp>
        <p:nvSpPr>
          <p:cNvPr id="4" name="TextBox 3"/>
          <p:cNvSpPr txBox="1"/>
          <p:nvPr/>
        </p:nvSpPr>
        <p:spPr>
          <a:solidFill>
            <a:srgbClr val="1E1E2E"/>
          </a:solidFill>
          <a:xfrm>
            <a:off x="365760" y="1371600"/>
            <a:ext cx="53949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1. 创建 conda 环境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conda create -n swift python=3.11 -y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conda activate swift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2. 安装 PyTorch (CUDA 12.1)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pip install torch torchvision torchaudio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--index-url https://download.pytorch.org/whl/cu121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3. 安装 ms-swift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pip install 'ms-swift[llm]' -U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4. 验证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swift sft --help</a:t>
            </a:r>
          </a:p>
        </p:txBody>
      </p:sp>
      <p:sp>
        <p:nvSpPr>
          <p:cNvPr id="5" name="TextBox 4"/>
          <p:cNvSpPr txBox="1"/>
          <p:nvPr/>
        </p:nvSpPr>
        <p:spPr>
          <a:solidFill>
            <a:srgbClr val="1E1E2E"/>
          </a:solidFill>
          <a:xfrm>
            <a:off x="5989320" y="1371600"/>
            <a:ext cx="544068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5. 下载基础模型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export USE_MODELSCOPE_HUB=1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modelscope download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--model Qwen/Qwen3.5-9B-Base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--local_dir /data/models/Qwen3.5-9B-Base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6. 工作目录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mkdir -p /mnt/e/ai/ai_trains/runtime/datasets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mkdir -p /mnt/e/ai/ai_trains/runtime/runs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7. GPU 检查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python -c "import torch; print(torch.cuda.is_available())"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83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Microsoft YaHei"/>
              </a:defRPr>
            </a:pPr>
            <a:r>
              <a:t>硬件建议：单卡 24GB+ 可做 LoRA-SFT；若要更稳妥跑 9B，建议 4090 / A100 级别显卡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349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B579A"/>
                </a:solidFill>
                <a:latin typeface="Microsoft YaHei"/>
              </a:defRPr>
            </a:pPr>
            <a:r>
              <a:t>软件建议：Python 3.11 + PyTorch 2.x + CUDA 12.1+ + ms-swift 最新版本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五、训练配置：LoRA-SFT 参数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重点关注训练参数如何影响告警诊断质量</a:t>
            </a:r>
          </a:p>
        </p:txBody>
      </p:sp>
      <p:sp>
        <p:nvSpPr>
          <p:cNvPr id="4" name="TextBox 3"/>
          <p:cNvSpPr txBox="1"/>
          <p:nvPr/>
        </p:nvSpPr>
        <p:spPr>
          <a:solidFill>
            <a:srgbClr val="1E1E2E"/>
          </a:solidFill>
          <a:xfrm>
            <a:off x="365760" y="137160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swift.train.yaml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model: Qwen/Qwen3.5-9B-Base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template: qwen3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dataset: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 runtime/datasets/alarm_analysis_swift_sft_v1/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  alarm_analysis_swift_sft_v1.jsonl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train_type: lora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target_modules: all-linear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lora_rank: 64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lora_alpha: 128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max_length: 4096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per_device_train_batch_size: 1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gradient_accumulation_steps: 8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learning_rate: 2e-4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num_train_epochs: 3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output_dir: runtime/runs/{run_id}/output/adapter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89320" y="1371600"/>
          <a:ext cx="54406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建议值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原因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template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qwen3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与 Qwen3.5-9B-Base 对齐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lora_rank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兼顾领域表达能力与显存占用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lora_alpha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常见稳妥组合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target_modules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all-linear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充分学习诊断结构和术语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max_length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4096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容纳较长告警摘要与分析过程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learning_rate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2e-4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LoRA-SFT 常见起点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一期先小步快跑，避免过拟合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grad_accum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单卡下提升等效批量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六、训练执行：swift sft 命令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直接落到命令行，便于后端 Worker 编排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方式一：使用配置文件（推荐）</a:t>
            </a:r>
          </a:p>
        </p:txBody>
      </p:sp>
      <p:sp>
        <p:nvSpPr>
          <p:cNvPr id="5" name="TextBox 4"/>
          <p:cNvSpPr txBox="1"/>
          <p:nvPr/>
        </p:nvSpPr>
        <p:spPr>
          <a:solidFill>
            <a:srgbClr val="1E1E2E"/>
          </a:solidFill>
          <a:xfrm>
            <a:off x="365760" y="160020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A6E22E"/>
                </a:solidFill>
                <a:latin typeface="Consolas"/>
              </a:defRPr>
            </a:pPr>
            <a:r>
              <a:t>CUDA_VISIBLE_DEVICES=0 swift sft --config swift.train.yaml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33333"/>
                </a:solidFill>
                <a:latin typeface="Microsoft YaHei"/>
              </a:defRPr>
            </a:pPr>
            <a:r>
              <a:t>方式二：命令行直接指定参数</a:t>
            </a:r>
          </a:p>
        </p:txBody>
      </p:sp>
      <p:sp>
        <p:nvSpPr>
          <p:cNvPr id="7" name="TextBox 6"/>
          <p:cNvSpPr txBox="1"/>
          <p:nvPr/>
        </p:nvSpPr>
        <p:spPr>
          <a:solidFill>
            <a:srgbClr val="1E1E2E"/>
          </a:solidFill>
          <a:xfrm>
            <a:off x="365760" y="3063240"/>
            <a:ext cx="110642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A6E22E"/>
                </a:solidFill>
                <a:latin typeface="Consolas"/>
              </a:defRPr>
            </a:pPr>
            <a:r>
              <a:t>CUDA_VISIBLE_DEVICES=0 swift sft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--model Qwen/Qwen3.5-9B-Base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--dataset runtime/datasets/alarm_analysis_swift_sft_v1/alarm_analysis_swift_sft_v1.jsonl \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--train_type lora --template qwen3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--max_length 4096 --num_train_epochs 3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--per_device_train_batch_size 1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--gradient_accumulation_steps 8 \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--lora_rank 64 --lora_alpha 128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--target_modules all-linear \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  --output_dir runtime/runs/{run_id}/output/adapter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623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79A"/>
                </a:solidFill>
                <a:latin typeface="Microsoft YaHei"/>
              </a:defRPr>
            </a:pPr>
            <a:r>
              <a:t>后端编排建议：Worker 负责生成 run_id、写入 swift.train.yaml、启动训练并采集 train.log。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七、模型导出：LoRA 合并与量化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导出阶段需要同时照顾 vLLM 与 Ollama 两条推理链路</a:t>
            </a:r>
          </a:p>
        </p:txBody>
      </p:sp>
      <p:sp>
        <p:nvSpPr>
          <p:cNvPr id="4" name="TextBox 3"/>
          <p:cNvSpPr txBox="1"/>
          <p:nvPr/>
        </p:nvSpPr>
        <p:spPr>
          <a:solidFill>
            <a:srgbClr val="1E1E2E"/>
          </a:solidFill>
          <a:xfrm>
            <a:off x="36576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步骤一：合并 LoRA 适配器到基础模型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swift export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--model Qwen/Qwen3.5-9B-Base \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--adapters /mnt/e/ai/ai_trains/runtime/runs/{run_id}/output/adapter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--merge_lora true \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  --output_dir /mnt/e/ai/ai_trains/runtime/runs/{run_id}/output/merged</a:t>
            </a:r>
          </a:p>
        </p:txBody>
      </p:sp>
      <p:sp>
        <p:nvSpPr>
          <p:cNvPr id="5" name="TextBox 4"/>
          <p:cNvSpPr txBox="1"/>
          <p:nvPr/>
        </p:nvSpPr>
        <p:spPr>
          <a:solidFill>
            <a:srgbClr val="1E1E2E"/>
          </a:solidFill>
          <a:xfrm>
            <a:off x="365760" y="31546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步骤二：量化为 GGUF（仅 Ollama 需要）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python llama.cpp/convert_hf_to_gguf.py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/mnt/e/ai/ai_trains/runtime/runs/{run_id}/output/merged \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--outfile /mnt/e/ai/ai_trains/runtime/artifacts/gguf/alarm-qwen35-9b-sft.gguf \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  --outtype q4_k_m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8348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6C00"/>
                </a:solidFill>
                <a:latin typeface="Microsoft YaHei"/>
              </a:defRPr>
            </a:pPr>
            <a:r>
              <a:t>关键结论：vLLM 优先直接读取 merged/ 完整 Hugging Face 模型目录；GGUF 只用于 Ollama / llama.cpp 对比推理。</a:t>
            </a:r>
          </a:p>
        </p:txBody>
      </p:sp>
      <p:sp>
        <p:nvSpPr>
          <p:cNvPr id="7" name="TextBox 6"/>
          <p:cNvSpPr txBox="1"/>
          <p:nvPr/>
        </p:nvSpPr>
        <p:spPr>
          <a:solidFill>
            <a:srgbClr val="F0F0F0"/>
          </a:solidFill>
          <a:xfrm>
            <a:off x="457200" y="5577840"/>
            <a:ext cx="10972800" cy="502920"/>
          </a:xfrm>
          <a:prstGeom prst="rect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截图预留：导出命令执行结果截图</a:t>
            </a:r>
          </a:p>
          <a:p>
            <a:pPr algn="ctr"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（请在此处粘贴实际截图）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八、模型部署：Ollama 与 vLLM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一期保留 Ollama 对比，生产/正式验证优先走 vLLM</a:t>
            </a:r>
          </a:p>
        </p:txBody>
      </p:sp>
      <p:sp>
        <p:nvSpPr>
          <p:cNvPr id="4" name="TextBox 3"/>
          <p:cNvSpPr txBox="1"/>
          <p:nvPr/>
        </p:nvSpPr>
        <p:spPr>
          <a:solidFill>
            <a:srgbClr val="1E1E2E"/>
          </a:solidFill>
          <a:xfrm>
            <a:off x="365760" y="1325880"/>
            <a:ext cx="539496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Ollama：本地对比推理链路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FROM ./alarm-qwen35-9b-sft.gguf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PARAMETER temperature 0.1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PARAMETER top_p 0.8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PARAMETER num_ctx 8192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ollama create alarm-swift-qwen35-9b -f Modelfile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ollama run alarm-swift-qwen35-9b</a:t>
            </a:r>
          </a:p>
        </p:txBody>
      </p:sp>
      <p:sp>
        <p:nvSpPr>
          <p:cNvPr id="5" name="TextBox 4"/>
          <p:cNvSpPr txBox="1"/>
          <p:nvPr/>
        </p:nvSpPr>
        <p:spPr>
          <a:solidFill>
            <a:srgbClr val="1E1E2E"/>
          </a:solidFill>
          <a:xfrm>
            <a:off x="5989320" y="1325880"/>
            <a:ext cx="544068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vLLM：推荐部署链路（读取 merged 模型）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vllm serve /mnt/e/ai/ai_trains/runtime/runs/{run_id}/output/merged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--served-model-name alarm-qwen35-9b-sft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--host 0.0.0.0 --port 8000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--dtype auto \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--api-key train-workbench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--generation-config vllm \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  --language-model-only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61772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Ollama 适合一期平台统一本地对比评测，接入简单，便于桌面化验证。</a:t>
            </a:r>
          </a:p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vLLM 适合正式部署与 OpenAI 兼容接口验证，可直接对接后端服务或工作台推理模块。</a:t>
            </a:r>
          </a:p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同一轮训练产物建议同时保留 merged/ 与 .gguf，分别服务 vLLM 与 Ollama。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九、推理验证：vLLM 回风温度过高告警案例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验证服务可用性、接口正确性和诊断结果完整性</a:t>
            </a:r>
          </a:p>
        </p:txBody>
      </p:sp>
      <p:sp>
        <p:nvSpPr>
          <p:cNvPr id="4" name="TextBox 3"/>
          <p:cNvSpPr txBox="1"/>
          <p:nvPr/>
        </p:nvSpPr>
        <p:spPr>
          <a:solidFill>
            <a:srgbClr val="1E1E2E"/>
          </a:solidFill>
          <a:xfrm>
            <a:off x="365760" y="13258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1. 检查模型是否已注册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curl http://127.0.0.1:8000/v1/models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-H "Authorization: Bearer train-workbench"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2. 发起回风温度过高告警诊断请求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curl http://127.0.0.1:8000/v1/chat/completions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-H "Authorization: Bearer train-workbench" \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-d '{"model":"alarm-qwen35-9b-sft",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      "messages":[{"role":"system","content":"你是机房设备运维专家"},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      {"role":"user","content":"告警设备名称：普通空调-1#空调内机-科龙\n告警信号名称：回风温度过高告警\n回风温度1：33.00℃\n设定温度：25.00℃..."}],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      "temperature":0.1,"max_tokens":512}'</a:t>
            </a:r>
          </a:p>
        </p:txBody>
      </p:sp>
      <p:sp>
        <p:nvSpPr>
          <p:cNvPr id="5" name="TextBox 4"/>
          <p:cNvSpPr txBox="1"/>
          <p:nvPr/>
        </p:nvSpPr>
        <p:spPr>
          <a:solidFill>
            <a:srgbClr val="1E1E2E"/>
          </a:solidFill>
          <a:xfrm>
            <a:off x="5989320" y="1325880"/>
            <a:ext cx="54406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期望响应片段（示例）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诊断结论：回风温度过高告警主要由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空调制冷系统故障导致（85%可能性）。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处理建议：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1. 优先检查压缩机、冷媒压力和过滤网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2. 测量出风/回风温差验证制冷效果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3. 复测回风温度传感器并检查线路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成因分析：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1. 空调制冷系统故障 (85%)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2. 温度传感器故障 (15%)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235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579A"/>
                </a:solidFill>
                <a:latin typeface="Microsoft YaHei"/>
              </a:defRPr>
            </a:pPr>
            <a:r>
              <a:t>验证通过标准：接口返回正常、输出包含主因/次因、处置建议，并引用关键证据（回风温度33.00℃/设定温度25.00℃/环境温度26.30-26.60℃/制冷模式运行）。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十、效果评测：离线评测与对比报告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围绕回风温度过高告警建立明确的评测口径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212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评测集：alarm_analysis_eval_v1 + return_air_temp_eval_mock</a:t>
            </a:r>
          </a:p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Smoke 集：先抽 2-4 条回风温度过高样例做快速验证</a:t>
            </a:r>
          </a:p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重点指标：主因命中、次因命中、处置建议完整度、关键证据引用</a:t>
            </a:r>
          </a:p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评测示例：普通空调-1#空调内机-科龙 / 回风温度过高告警 / 2026-03-10 10:23:45</a:t>
            </a:r>
          </a:p>
        </p:txBody>
      </p:sp>
      <p:sp>
        <p:nvSpPr>
          <p:cNvPr id="5" name="TextBox 4"/>
          <p:cNvSpPr txBox="1"/>
          <p:nvPr/>
        </p:nvSpPr>
        <p:spPr>
          <a:solidFill>
            <a:srgbClr val="1E1E2E"/>
          </a:solidFill>
          <a:xfrm>
            <a:off x="5852160" y="1325880"/>
            <a:ext cx="557784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# 评测样例（回风温度过高告警）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{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"task_type": "alarm_diagnosis",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"messages": [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    "告警设备名称：普通空调-1#空调内机-科龙",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  "告警设备编码：02202205110102_150100000000001",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  "告警开始时间：2026-03-10 10:23:45",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  "告警信号名称：回风温度过高告警",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  "回风温度1=33.00℃；设定温度=25.00℃；环境温度=26.30-26.60℃",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  "工作状态=开机；运行模式=制冷模式；直流输出电压=53.50-54.00V"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],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  "expected_contains": [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  "空调制冷系统故障",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  "温度传感器故障",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  "压缩机运行状态"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]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}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3840480"/>
          <a:ext cx="10972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验证维度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Qwen3.5-9B-Base 基线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LoRA-SFT (swift) 目标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根因定位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能否识别空调高温异常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稳定输出主因=空调制冷系统故障，次因=温度传感器故障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处置建议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建议偏泛化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覆盖压缩机/冷媒/过滤网检查 + 传感器复测与线路核验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证据引用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不一定引用测点和数值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引用回风温度33.00℃、设定温度25.00℃、环境温度26.30-26.60℃、制冷模式运行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接口验证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Ollama 对比输出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vLLM OpenAI 兼容接口可稳定返回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solidFill>
            <a:srgbClr val="F0F0F0"/>
          </a:solidFill>
          <a:xfrm>
            <a:off x="457200" y="5440680"/>
            <a:ext cx="5029200" cy="640080"/>
          </a:xfrm>
          <a:prstGeom prst="rect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截图预留：回风温度过高评测结果对比图表截图</a:t>
            </a:r>
          </a:p>
          <a:p>
            <a:pPr algn="ctr"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（请在此处粘贴实际截图）</a:t>
            </a:r>
          </a:p>
        </p:txBody>
      </p:sp>
      <p:sp>
        <p:nvSpPr>
          <p:cNvPr id="8" name="TextBox 7"/>
          <p:cNvSpPr txBox="1"/>
          <p:nvPr/>
        </p:nvSpPr>
        <p:spPr>
          <a:solidFill>
            <a:srgbClr val="F0F0F0"/>
          </a:solidFill>
          <a:xfrm>
            <a:off x="5943600" y="5440680"/>
            <a:ext cx="5029200" cy="640080"/>
          </a:xfrm>
          <a:prstGeom prst="rect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截图预留：回风温度过高对比报告页面截图</a:t>
            </a:r>
          </a:p>
          <a:p>
            <a:pPr algn="ctr"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（请在此处粘贴实际截图）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十一、平台集成：训练工作台全链路闭环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训练、导出、推理验证、对比评测在同一工作台收口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53035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前端：Vue3 + Vite H5 训练工作台</a:t>
            </a:r>
          </a:p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后端：FastAPI + SQLite 元数据管理</a:t>
            </a:r>
          </a:p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Worker：串行执行训练、导出、评测流程</a:t>
            </a:r>
          </a:p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训练后端：LLaMA-Factory（一期） / ms-swift（二期）</a:t>
            </a:r>
          </a:p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推理后端：Ollama（本地对比） / vLLM（正式验证）</a:t>
            </a:r>
          </a:p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• 场景扩展：告警诊断只是第一批，后续可扩展到其他专业场景与模型</a:t>
            </a:r>
          </a:p>
        </p:txBody>
      </p:sp>
      <p:sp>
        <p:nvSpPr>
          <p:cNvPr id="5" name="TextBox 4"/>
          <p:cNvSpPr txBox="1"/>
          <p:nvPr/>
        </p:nvSpPr>
        <p:spPr>
          <a:solidFill>
            <a:srgbClr val="1E1E2E"/>
          </a:solidFill>
          <a:xfrm>
            <a:off x="5897880" y="1325880"/>
            <a:ext cx="5486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75715E"/>
                </a:solidFill>
                <a:latin typeface="Consolas"/>
              </a:defRPr>
            </a:pPr>
            <a:r>
              <a:t>POST /api/experiments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{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"name": "Qwen3.5-9B-Base 告警诊断训练",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  "base_model": "Qwen/Qwen3.5-9B-Base",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  "trainer_backend": "swift",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"route_type": "sft",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"dataset_version": "alarm_analysis_swift_sft_v1",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  "inference_backend": "vllm",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  "train_config": {"train_type":"lora","template":"qwen3"}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solidFill>
            <a:srgbClr val="F0F0F0"/>
          </a:solidFill>
          <a:xfrm>
            <a:off x="457200" y="4892040"/>
            <a:ext cx="5029200" cy="1234440"/>
          </a:xfrm>
          <a:prstGeom prst="rect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截图预留：训练工作台首页截图</a:t>
            </a:r>
          </a:p>
          <a:p>
            <a:pPr algn="ctr"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（请在此处粘贴实际截图）</a:t>
            </a:r>
          </a:p>
        </p:txBody>
      </p:sp>
      <p:sp>
        <p:nvSpPr>
          <p:cNvPr id="7" name="TextBox 6"/>
          <p:cNvSpPr txBox="1"/>
          <p:nvPr/>
        </p:nvSpPr>
        <p:spPr>
          <a:solidFill>
            <a:srgbClr val="F0F0F0"/>
          </a:solidFill>
          <a:xfrm>
            <a:off x="5943600" y="4892040"/>
            <a:ext cx="5029200" cy="1234440"/>
          </a:xfrm>
          <a:prstGeom prst="rect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截图预留：运行详情页（训练/推理）截图</a:t>
            </a:r>
          </a:p>
          <a:p>
            <a:pPr algn="ctr"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（请在此处粘贴实际截图）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十二、运行产物与目录结构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后端训练和部署链路最终沉淀到具体文件产物</a:t>
            </a:r>
          </a:p>
        </p:txBody>
      </p:sp>
      <p:sp>
        <p:nvSpPr>
          <p:cNvPr id="4" name="TextBox 3"/>
          <p:cNvSpPr txBox="1"/>
          <p:nvPr/>
        </p:nvSpPr>
        <p:spPr>
          <a:solidFill>
            <a:srgbClr val="1E1E2E"/>
          </a:solidFill>
          <a:xfrm>
            <a:off x="365760" y="1325880"/>
            <a:ext cx="5394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A6E22E"/>
                </a:solidFill>
                <a:latin typeface="Consolas"/>
              </a:defRPr>
            </a:pPr>
            <a:r>
              <a:t>runtime/runs/run_20260412_053225_425ae0/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├── input/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│   ├── run_manifest.json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│   ├── swift.train.yaml      # 训练配置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│   ├── swift.export.yaml     # 导出配置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│   └── swift.eval.yaml       # 评测计划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├── output/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│   ├── adapter/              # LoRA 权重</a:t>
            </a:r>
          </a:p>
          <a:p>
            <a:pPr algn="l">
              <a:defRPr sz="1100" b="0">
                <a:solidFill>
                  <a:srgbClr val="A6E22E"/>
                </a:solidFill>
                <a:latin typeface="Consolas"/>
              </a:defRPr>
            </a:pPr>
            <a:r>
              <a:t>│   ├── merged/               # vLLM 直接读取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│   ├── Modelfile             # Ollama 对比推理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│   └── command_preview.json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├── logs/                     # train/export/worker 日志</a:t>
            </a:r>
          </a:p>
          <a:p>
            <a:pPr algn="l">
              <a:defRPr sz="1100" b="0">
                <a:solidFill>
                  <a:srgbClr val="E6DB74"/>
                </a:solidFill>
                <a:latin typeface="Consolas"/>
              </a:defRPr>
            </a:pPr>
            <a:r>
              <a:t>├── eval/                     # 逐条评测结果与汇总</a:t>
            </a:r>
          </a:p>
          <a:p>
            <a:pPr algn="l">
              <a:defRPr sz="1100" b="0">
                <a:solidFill>
                  <a:srgbClr val="F8F8F2"/>
                </a:solidFill>
                <a:latin typeface="Consolas"/>
              </a:defRPr>
            </a:pPr>
            <a:r>
              <a:t>└── reports/                  # 运行报告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89320" y="1325880"/>
          <a:ext cx="54406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3560"/>
                <a:gridCol w="1813560"/>
                <a:gridCol w="1813560"/>
              </a:tblGrid>
              <a:tr h="3200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产物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路径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2B579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训练配置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input/swift.train.yaml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完整训练参数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LoRA 权重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output/adapter/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训练产出的 adapter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合并模型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output/merged/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vLLM 部署入口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量化模型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runtime/artifacts/gguf/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Ollama 对比入口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训练日志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logs/train.log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训练过程日志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评测结果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eval/eval_results.jsonl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逐条输出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汇总报告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reports/{run_id}.json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训练+推理闭环记录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A3C6E"/>
                </a:solidFill>
                <a:latin typeface="Microsoft YaHei"/>
              </a:defRPr>
            </a:pPr>
            <a:r>
              <a:t>十三、效果展示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B579A"/>
                </a:solidFill>
                <a:latin typeface="Microsoft YaHei"/>
              </a:defRPr>
            </a:pPr>
            <a:r>
              <a:t>预留训练、vLLM 验证和工作台效果截图</a:t>
            </a:r>
          </a:p>
        </p:txBody>
      </p:sp>
      <p:sp>
        <p:nvSpPr>
          <p:cNvPr id="4" name="TextBox 3"/>
          <p:cNvSpPr txBox="1"/>
          <p:nvPr/>
        </p:nvSpPr>
        <p:spPr>
          <a:solidFill>
            <a:srgbClr val="F0F0F0"/>
          </a:solidFill>
          <a:xfrm>
            <a:off x="365760" y="1371600"/>
            <a:ext cx="5303520" cy="2011680"/>
          </a:xfrm>
          <a:prstGeom prst="rect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截图预留：训练前：Base 模型温度高告警输出截图</a:t>
            </a:r>
          </a:p>
          <a:p>
            <a:pPr algn="ctr"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（请在此处粘贴实际截图）</a:t>
            </a:r>
          </a:p>
        </p:txBody>
      </p:sp>
      <p:sp>
        <p:nvSpPr>
          <p:cNvPr id="5" name="TextBox 4"/>
          <p:cNvSpPr txBox="1"/>
          <p:nvPr/>
        </p:nvSpPr>
        <p:spPr>
          <a:solidFill>
            <a:srgbClr val="F0F0F0"/>
          </a:solidFill>
          <a:xfrm>
            <a:off x="5943600" y="1371600"/>
            <a:ext cx="5303520" cy="2011680"/>
          </a:xfrm>
          <a:prstGeom prst="rect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截图预留：训练后：SFT 模型温度高告警输出截图</a:t>
            </a:r>
          </a:p>
          <a:p>
            <a:pPr algn="ctr"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（请在此处粘贴实际截图）</a:t>
            </a:r>
          </a:p>
        </p:txBody>
      </p:sp>
      <p:sp>
        <p:nvSpPr>
          <p:cNvPr id="6" name="TextBox 5"/>
          <p:cNvSpPr txBox="1"/>
          <p:nvPr/>
        </p:nvSpPr>
        <p:spPr>
          <a:solidFill>
            <a:srgbClr val="F0F0F0"/>
          </a:solidFill>
          <a:xfrm>
            <a:off x="365760" y="3657600"/>
            <a:ext cx="5303520" cy="2011680"/>
          </a:xfrm>
          <a:prstGeom prst="rect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截图预留：vLLM /v1/chat/completions 验证截图</a:t>
            </a:r>
          </a:p>
          <a:p>
            <a:pPr algn="ctr"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（请在此处粘贴实际截图）</a:t>
            </a:r>
          </a:p>
        </p:txBody>
      </p:sp>
      <p:sp>
        <p:nvSpPr>
          <p:cNvPr id="7" name="TextBox 6"/>
          <p:cNvSpPr txBox="1"/>
          <p:nvPr/>
        </p:nvSpPr>
        <p:spPr>
          <a:solidFill>
            <a:srgbClr val="F0F0F0"/>
          </a:solidFill>
          <a:xfrm>
            <a:off x="5943600" y="3657600"/>
            <a:ext cx="5303520" cy="2011680"/>
          </a:xfrm>
          <a:prstGeom prst="rect">
            <a:avLst/>
          </a:prstGeom>
          <a:noFill/>
          <a:ln w="12700">
            <a:solidFill>
              <a:srgbClr val="CCCCCC"/>
            </a:solidFill>
            <a:prstDash val="dash"/>
          </a:ln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Microsoft YaHei"/>
              </a:defRPr>
            </a:pPr>
            <a:r>
              <a:t>截图预留：训练工作台对比报告截图</a:t>
            </a:r>
          </a:p>
          <a:p>
            <a:pPr algn="ctr">
              <a:defRPr sz="1200">
                <a:solidFill>
                  <a:srgbClr val="666666"/>
                </a:solidFill>
                <a:latin typeface="Microsoft YaHei"/>
              </a:defRPr>
            </a:pPr>
            <a:r>
              <a:t>（请在此处粘贴实际截图）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总结与下一步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围绕“温度过高告警”构建统一示例后，训练、推理和评测链路更容易讲透也更便于验收</a:t>
            </a:r>
          </a:p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ms-swift 方案的核心在于：数据格式统一、LoRA-SFT 配置可复用、Worker 易于编排</a:t>
            </a:r>
          </a:p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训练后建议同时保留 merged 与 GGUF，分别服务 vLLM 正式验证和 Ollama 本地对比</a:t>
            </a:r>
          </a:p>
          <a:p>
            <a:pPr algn="l">
              <a:defRPr sz="1500" b="0">
                <a:solidFill>
                  <a:srgbClr val="FFFFFF"/>
                </a:solidFill>
                <a:latin typeface="Microsoft YaHei"/>
              </a:defRPr>
            </a:pPr>
            <a:r>
              <a:t>• vLLM 部署应直接读取 merged 模型目录，并通过 OpenAI 兼容接口完成服务验收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605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CC00"/>
                </a:solidFill>
                <a:latin typeface="Microsoft YaHei"/>
              </a:defRPr>
            </a:pPr>
            <a:r>
              <a:t>下一步建议：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6177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  <a:spcAft>
                <a:spcPts val="400"/>
              </a:spcAft>
              <a:defRPr sz="1400" b="0">
                <a:solidFill>
                  <a:srgbClr val="CCDDFF"/>
                </a:solidFill>
                <a:latin typeface="Microsoft YaHei"/>
              </a:defRPr>
            </a:pPr>
            <a:r>
              <a:t>• 在 WSL 中补齐真实的 Qwen3.5-9B-Base 下载、训练、导出、vLLM 服务验证闭环</a:t>
            </a:r>
          </a:p>
          <a:p>
            <a:pPr algn="l">
              <a:defRPr sz="1400" b="0">
                <a:solidFill>
                  <a:srgbClr val="CCDDFF"/>
                </a:solidFill>
                <a:latin typeface="Microsoft YaHei"/>
              </a:defRPr>
            </a:pPr>
            <a:r>
              <a:t>• 补充温度高场景模拟测试集，细化空调故障、传感器误报、门磁伴随告警三类标签</a:t>
            </a:r>
          </a:p>
          <a:p>
            <a:pPr algn="l">
              <a:defRPr sz="1400" b="0">
                <a:solidFill>
                  <a:srgbClr val="CCDDFF"/>
                </a:solidFill>
                <a:latin typeface="Microsoft YaHei"/>
              </a:defRPr>
            </a:pPr>
            <a:r>
              <a:t>• 将 vLLM 推理适配进训练工作台后端，形成 Ollama / vLLM 可切换的统一推理层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