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C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微软雅黑"/>
              </a:defRPr>
            </a:pPr>
            <a:r>
              <a:t>基于 Qwen3.5-9B-Base 的动环监控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微软雅黑"/>
              </a:defRPr>
            </a:pPr>
            <a:r>
              <a:t>告警诊断场景 LoRA-SFT 训练介绍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CDDFF"/>
                </a:solidFill>
                <a:latin typeface="微软雅黑"/>
              </a:defRPr>
            </a:pPr>
            <a:r>
              <a:t>训练框架：ms-swift  |  训练方式：LoRA-SFT  |  数据：动环监控关联告警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ABBDD"/>
                </a:solidFill>
                <a:latin typeface="微软雅黑"/>
              </a:defRPr>
            </a:pPr>
            <a:r>
              <a:t>ai_trains 训练对比实验平台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3C6E"/>
                </a:solidFill>
                <a:latin typeface="微软雅黑"/>
              </a:defRPr>
            </a:pPr>
            <a:r>
              <a:t>目录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9144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  <a:defRPr sz="1600">
                <a:solidFill>
                  <a:srgbClr val="333333"/>
                </a:solidFill>
                <a:latin typeface="微软雅黑"/>
              </a:defRPr>
            </a:pPr>
            <a:r>
              <a:t>• 一、项目背景与业务场景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600">
                <a:solidFill>
                  <a:srgbClr val="333333"/>
                </a:solidFill>
                <a:latin typeface="微软雅黑"/>
              </a:defRPr>
            </a:pPr>
            <a:r>
              <a:t>• 二、模型选型：Qwen3.5-9B-Base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600">
                <a:solidFill>
                  <a:srgbClr val="333333"/>
                </a:solidFill>
                <a:latin typeface="微软雅黑"/>
              </a:defRPr>
            </a:pPr>
            <a:r>
              <a:t>• 三、数据准备：告警诊断 SFT 数据集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600">
                <a:solidFill>
                  <a:srgbClr val="333333"/>
                </a:solidFill>
                <a:latin typeface="微软雅黑"/>
              </a:defRPr>
            </a:pPr>
            <a:r>
              <a:t>• 四、环境搭建：ms-swift 安装配置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600">
                <a:solidFill>
                  <a:srgbClr val="333333"/>
                </a:solidFill>
                <a:latin typeface="微软雅黑"/>
              </a:defRPr>
            </a:pPr>
            <a:r>
              <a:t>• 五、训练配置详解：LoRA-SFT 参数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600">
                <a:solidFill>
                  <a:srgbClr val="333333"/>
                </a:solidFill>
                <a:latin typeface="微软雅黑"/>
              </a:defRPr>
            </a:pPr>
            <a:r>
              <a:t>• 六、训练执行：swift sft 命令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600">
                <a:solidFill>
                  <a:srgbClr val="333333"/>
                </a:solidFill>
                <a:latin typeface="微软雅黑"/>
              </a:defRPr>
            </a:pPr>
            <a:r>
              <a:t>• 七、模型导出：LoRA 合并与量化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600">
                <a:solidFill>
                  <a:srgbClr val="333333"/>
                </a:solidFill>
                <a:latin typeface="微软雅黑"/>
              </a:defRPr>
            </a:pPr>
            <a:r>
              <a:t>• 八、模型部署：Ollama 注册与推理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600">
                <a:solidFill>
                  <a:srgbClr val="333333"/>
                </a:solidFill>
                <a:latin typeface="微软雅黑"/>
              </a:defRPr>
            </a:pPr>
            <a:r>
              <a:t>• 九、效果评测：离线评测与对比报告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600">
                <a:solidFill>
                  <a:srgbClr val="333333"/>
                </a:solidFill>
                <a:latin typeface="微软雅黑"/>
              </a:defRPr>
            </a:pPr>
            <a:r>
              <a:t>• 十、平台集成：实验台全链路闭环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600">
                <a:solidFill>
                  <a:srgbClr val="333333"/>
                </a:solidFill>
                <a:latin typeface="微软雅黑"/>
              </a:defRPr>
            </a:pPr>
            <a:r>
              <a:t>• 十一、效果展示与总结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3C6E"/>
                </a:solidFill>
                <a:latin typeface="微软雅黑"/>
              </a:defRPr>
            </a:pPr>
            <a:r>
              <a:t>一、项目背景与业务场景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B579A"/>
                </a:solidFill>
                <a:latin typeface="微软雅黑"/>
              </a:defRPr>
            </a:pPr>
            <a:r>
              <a:t>动环监控平台 × 大模型告警诊断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  <a:defRPr sz="1300">
                <a:solidFill>
                  <a:srgbClr val="333333"/>
                </a:solidFill>
                <a:latin typeface="微软雅黑"/>
              </a:defRPr>
            </a:pPr>
            <a:r>
              <a:t>• 业务痛点：动环监控平台每日产生海量告警（UPS、空调、市电、温湿度、门磁等），人工分析效率低、易遗漏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300">
                <a:solidFill>
                  <a:srgbClr val="333333"/>
                </a:solidFill>
                <a:latin typeface="微软雅黑"/>
              </a:defRPr>
            </a:pPr>
            <a:r>
              <a:t>• 解决思路：利用大模型对关联告警进行自动根因分析，输出结构化诊断报告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300">
                <a:solidFill>
                  <a:srgbClr val="333333"/>
                </a:solidFill>
                <a:latin typeface="微软雅黑"/>
              </a:defRPr>
            </a:pPr>
            <a:r>
              <a:t>• 涉及设备：UPS系统、开关电源、专用空调、冷水空调、市电配电柜、温湿度传感器、门磁、FSU 等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300">
                <a:solidFill>
                  <a:srgbClr val="333333"/>
                </a:solidFill>
                <a:latin typeface="微软雅黑"/>
              </a:defRPr>
            </a:pPr>
            <a:r>
              <a:t>• 数据来源：真实动环监控平台关联告警数据，由 Qwen3-235B-A22B 标注生成高质量训练样本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300">
                <a:solidFill>
                  <a:srgbClr val="333333"/>
                </a:solidFill>
                <a:latin typeface="微软雅黑"/>
              </a:defRPr>
            </a:pPr>
            <a:r>
              <a:t>• 目标：训练 9B 参数量级的 Base 模型，使其具备专业级告警诊断能力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206240"/>
            <a:ext cx="4572000" cy="1828800"/>
          </a:xfrm>
          <a:prstGeom prst="rect">
            <a:avLst/>
          </a:prstGeom>
          <a:noFill/>
          <a:ln w="12700">
            <a:solidFill>
              <a:srgbClr val="CCCCCC"/>
            </a:solidFill>
            <a:prstDash val="dash"/>
          </a:ln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666666"/>
                </a:solidFill>
                <a:latin typeface="微软雅黑"/>
              </a:defRPr>
            </a:pPr>
            <a:r>
              <a:t>📷 动环监控平台告警界面截图</a:t>
            </a:r>
          </a:p>
          <a:p>
            <a:pPr algn="ctr">
              <a:defRPr sz="1200">
                <a:solidFill>
                  <a:srgbClr val="666666"/>
                </a:solidFill>
                <a:latin typeface="微软雅黑"/>
              </a:defRPr>
            </a:pPr>
            <a:r>
              <a:t>（请在此处粘贴实际截图）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0" y="4206240"/>
            <a:ext cx="5029200" cy="1828800"/>
          </a:xfrm>
          <a:prstGeom prst="rect">
            <a:avLst/>
          </a:prstGeom>
          <a:noFill/>
          <a:ln w="12700">
            <a:solidFill>
              <a:srgbClr val="CCCCCC"/>
            </a:solidFill>
            <a:prstDash val="dash"/>
          </a:ln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666666"/>
                </a:solidFill>
                <a:latin typeface="微软雅黑"/>
              </a:defRPr>
            </a:pPr>
            <a:r>
              <a:t>📷 告警诊断分析报告示例截图</a:t>
            </a:r>
          </a:p>
          <a:p>
            <a:pPr algn="ctr">
              <a:defRPr sz="1200">
                <a:solidFill>
                  <a:srgbClr val="666666"/>
                </a:solidFill>
                <a:latin typeface="微软雅黑"/>
              </a:defRPr>
            </a:pPr>
            <a:r>
              <a:t>（请在此处粘贴实际截图）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3C6E"/>
                </a:solidFill>
                <a:latin typeface="微软雅黑"/>
              </a:defRPr>
            </a:pPr>
            <a:r>
              <a:t>一、业务场景：告警诊断数据样例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B579A"/>
                </a:solidFill>
                <a:latin typeface="微软雅黑"/>
              </a:defRPr>
            </a:pPr>
            <a:r>
              <a:t>输入：关联告警摘要  →  输出：根因分析报告</a:t>
            </a:r>
          </a:p>
        </p:txBody>
      </p:sp>
      <p:sp>
        <p:nvSpPr>
          <p:cNvPr id="4" name="TextBox 3"/>
          <p:cNvSpPr txBox="1"/>
          <p:nvPr/>
        </p:nvSpPr>
        <p:spPr>
          <a:solidFill>
            <a:srgbClr val="1E1E2E"/>
          </a:solidFill>
          <a:xfrm>
            <a:off x="365760" y="13716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75715E"/>
                </a:solidFill>
                <a:latin typeface="Consolas"/>
              </a:defRPr>
            </a:pPr>
            <a:r>
              <a:t>// 输入（压缩后的告警摘要）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F8F8F2"/>
                </a:solidFill>
                <a:latin typeface="Consolas"/>
              </a:defRPr>
            </a:pPr>
            <a:r>
              <a:t>告警摘要（已压缩整理）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F8F8F2"/>
                </a:solidFill>
                <a:latin typeface="Consolas"/>
              </a:defRPr>
            </a:pPr>
            <a:r>
              <a:t>告警窗口：2025-04-07 09:11 至 17:11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E6DB74"/>
                </a:solidFill>
                <a:latin typeface="Consolas"/>
              </a:defRPr>
            </a:pPr>
            <a:r>
              <a:t>原始告警数：680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E6DB74"/>
                </a:solidFill>
                <a:latin typeface="Consolas"/>
              </a:defRPr>
            </a:pPr>
            <a:r>
              <a:t>去重后事件数：42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E6DB74"/>
                </a:solidFill>
                <a:latin typeface="Consolas"/>
              </a:defRPr>
            </a:pPr>
            <a:r>
              <a:t>涉及设备数：8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A6E22E"/>
                </a:solidFill>
                <a:latin typeface="Consolas"/>
              </a:defRPr>
            </a:pPr>
            <a:r>
              <a:t>高频设备：2#UPS电池组 x320；空调电表 x95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F8F8F2"/>
                </a:solidFill>
                <a:latin typeface="Consolas"/>
              </a:defRPr>
            </a:pP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A6E22E"/>
                </a:solidFill>
                <a:latin typeface="Consolas"/>
              </a:defRPr>
            </a:pPr>
            <a:r>
              <a:t>首发关键事件：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F8F8F2"/>
                </a:solidFill>
                <a:latin typeface="Consolas"/>
              </a:defRPr>
            </a:pPr>
            <a:r>
              <a:t>1. 市电停电模块 C相电压过高告警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F8F8F2"/>
                </a:solidFill>
                <a:latin typeface="Consolas"/>
              </a:defRPr>
            </a:pPr>
            <a:r>
              <a:t>2. 1#门磁 门磁状态有告警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A6E22E"/>
                </a:solidFill>
                <a:latin typeface="Consolas"/>
              </a:defRPr>
            </a:pPr>
            <a:r>
              <a:t>高频重复事件：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F8F8F2"/>
                </a:solidFill>
                <a:latin typeface="Consolas"/>
              </a:defRPr>
            </a:pPr>
            <a:r>
              <a:t>1. 2#UPS系统-4#电池组 单体18电压过高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F8F8F2"/>
                </a:solidFill>
                <a:latin typeface="Consolas"/>
              </a:defRPr>
            </a:pPr>
            <a:r>
              <a:t>2. 2#UPS系统-4#电池组 单体03电压过低</a:t>
            </a:r>
          </a:p>
        </p:txBody>
      </p:sp>
      <p:sp>
        <p:nvSpPr>
          <p:cNvPr id="5" name="TextBox 4"/>
          <p:cNvSpPr txBox="1"/>
          <p:nvPr/>
        </p:nvSpPr>
        <p:spPr>
          <a:solidFill>
            <a:srgbClr val="1E1E2E"/>
          </a:solidFill>
          <a:xfrm>
            <a:off x="5669280" y="1371600"/>
            <a:ext cx="5943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75715E"/>
                </a:solidFill>
                <a:latin typeface="Consolas"/>
              </a:defRPr>
            </a:pPr>
            <a:r>
              <a:t>// 输出（结构化诊断报告）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A6E22E"/>
                </a:solidFill>
                <a:latin typeface="Consolas"/>
              </a:defRPr>
            </a:pPr>
            <a:r>
              <a:t># 关联告警根因分析报告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F8F8F2"/>
                </a:solidFill>
                <a:latin typeface="Consolas"/>
              </a:defRPr>
            </a:pP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E6DB74"/>
                </a:solidFill>
                <a:latin typeface="Consolas"/>
              </a:defRPr>
            </a:pPr>
            <a:r>
              <a:t>## 根因定位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F8F8F2"/>
                </a:solidFill>
                <a:latin typeface="Consolas"/>
              </a:defRPr>
            </a:pPr>
            <a:r>
              <a:t>根本原因：市电供电异常导致门磁系统误告警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A6E22E"/>
                </a:solidFill>
                <a:latin typeface="Consolas"/>
              </a:defRPr>
            </a:pPr>
            <a:r>
              <a:t>推理链条：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F8F8F2"/>
                </a:solidFill>
                <a:latin typeface="Consolas"/>
              </a:defRPr>
            </a:pPr>
            <a:r>
              <a:t>1. 市电C相电压过高 → UPS切换响应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F8F8F2"/>
                </a:solidFill>
                <a:latin typeface="Consolas"/>
              </a:defRPr>
            </a:pPr>
            <a:r>
              <a:t>2. 电压波动 → 门磁信号线路电磁干扰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F8F8F2"/>
                </a:solidFill>
                <a:latin typeface="Consolas"/>
              </a:defRPr>
            </a:pPr>
            <a:r>
              <a:t>3. 控制器供电波动 → 状态检测异常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F8F8F2"/>
                </a:solidFill>
                <a:latin typeface="Consolas"/>
              </a:defRPr>
            </a:pP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E6DB74"/>
                </a:solidFill>
                <a:latin typeface="Consolas"/>
              </a:defRPr>
            </a:pPr>
            <a:r>
              <a:t>## 影响范围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F8F8F2"/>
                </a:solidFill>
                <a:latin typeface="Consolas"/>
              </a:defRPr>
            </a:pPr>
            <a:r>
              <a:t>- 安防系统可靠性下降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F8F8F2"/>
                </a:solidFill>
                <a:latin typeface="Consolas"/>
              </a:defRPr>
            </a:pPr>
            <a:r>
              <a:t>- 暴露供电系统抗扰动能力不足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F8F8F2"/>
                </a:solidFill>
                <a:latin typeface="Consolas"/>
              </a:defRPr>
            </a:pP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E6DB74"/>
                </a:solidFill>
                <a:latin typeface="Consolas"/>
              </a:defRPr>
            </a:pPr>
            <a:r>
              <a:t>## 解决方案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F8F8F2"/>
                </a:solidFill>
                <a:latin typeface="Consolas"/>
              </a:defRPr>
            </a:pPr>
            <a:r>
              <a:t>- 紧急：检查UPS供电质量，重启门磁控制器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F8F8F2"/>
                </a:solidFill>
                <a:latin typeface="Consolas"/>
              </a:defRPr>
            </a:pPr>
            <a:r>
              <a:t>- 长期：加装精密稳压模块，独立UPS供电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3C6E"/>
                </a:solidFill>
                <a:latin typeface="微软雅黑"/>
              </a:defRPr>
            </a:pPr>
            <a:r>
              <a:t>二、模型选型：Qwen3.5-9B-Base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B579A"/>
                </a:solidFill>
                <a:latin typeface="微软雅黑"/>
              </a:defRPr>
            </a:pPr>
            <a:r>
              <a:t>为什么选择 Qwen3.5-9B-Base？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097280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3200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维度</a:t>
                      </a:r>
                    </a:p>
                  </a:txBody>
                  <a:tcPr>
                    <a:solidFill>
                      <a:srgbClr val="2B579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说明</a:t>
                      </a:r>
                    </a:p>
                  </a:txBody>
                  <a:tcPr>
                    <a:solidFill>
                      <a:srgbClr val="2B579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模型规模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9B 参数量，单卡 24GB 可完成 LoRA 训练，性价比高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Base vs Instruct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Base 模型可塑性更强，SFT 后诊断风格更贴合专业场景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中文能力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Qwen 系列在中文理解和生成上表现优异，适合中文告警文本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长文本支持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支持 32K+ 上下文，可处理大量关联告警输入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开源许可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Apache 2.0，支持商业使用和二次训练分发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ms-swift 兼容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Qwen3 系列在 ms-swift 中有原生 template 支持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B579A"/>
                </a:solidFill>
                <a:latin typeface="微软雅黑"/>
              </a:defRPr>
            </a:pPr>
            <a:r>
              <a:t>模型 ID：Qwen/Qwen3.5-9B-Base    模板：qwen3    训练框架：ms-swift (LoRA-SFT)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3C6E"/>
                </a:solidFill>
                <a:latin typeface="微软雅黑"/>
              </a:defRPr>
            </a:pPr>
            <a:r>
              <a:t>三、数据准备：告警诊断 SFT 数据集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B579A"/>
                </a:solidFill>
                <a:latin typeface="微软雅黑"/>
              </a:defRPr>
            </a:pPr>
            <a:r>
              <a:t>从原始告警到训练数据的完整流水线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微软雅黑"/>
              </a:defRPr>
            </a:pPr>
            <a:r>
              <a:t>数据加工流程：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7373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B579A"/>
                </a:solidFill>
                <a:latin typeface="微软雅黑"/>
              </a:defRPr>
            </a:pPr>
            <a:r>
              <a:t>原始告警JSON → 告警压缩整理 → 根因提取 → SFT样本构建 → 训练/评测集切分</a:t>
            </a:r>
          </a:p>
        </p:txBody>
      </p:sp>
      <p:sp>
        <p:nvSpPr>
          <p:cNvPr id="6" name="TextBox 5"/>
          <p:cNvSpPr txBox="1"/>
          <p:nvPr/>
        </p:nvSpPr>
        <p:spPr>
          <a:solidFill>
            <a:srgbClr val="1E1E2E"/>
          </a:solidFill>
          <a:xfrm>
            <a:off x="365760" y="228600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75715E"/>
                </a:solidFill>
                <a:latin typeface="Consolas"/>
              </a:defRPr>
            </a:pPr>
            <a:r>
              <a:t># 执行数据准备脚本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A6E22E"/>
                </a:solidFill>
                <a:latin typeface="Consolas"/>
              </a:defRPr>
            </a:pPr>
            <a:r>
              <a:t>python scripts/prepare_alarm_analysis_datasets.py \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F8F8F2"/>
                </a:solidFill>
                <a:latin typeface="Consolas"/>
              </a:defRPr>
            </a:pPr>
            <a:r>
              <a:t>  --source resources/alarm_analysis.json \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F8F8F2"/>
                </a:solidFill>
                <a:latin typeface="Consolas"/>
              </a:defRPr>
            </a:pPr>
            <a:r>
              <a:t>  --datasets-root runtime/datasets \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E6DB74"/>
                </a:solidFill>
                <a:latin typeface="Consolas"/>
              </a:defRPr>
            </a:pPr>
            <a:r>
              <a:t>  --swift-train-version alarm_analysis_swift_sft_v1 \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F8F8F2"/>
                </a:solidFill>
                <a:latin typeface="Consolas"/>
              </a:defRPr>
            </a:pPr>
            <a:r>
              <a:t>  --eval-version alarm_analysis_eval_v1 \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F8F8F2"/>
                </a:solidFill>
                <a:latin typeface="Consolas"/>
              </a:defRPr>
            </a:pPr>
            <a:r>
              <a:t>  --eval-count 64 --seed 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2860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微软雅黑"/>
              </a:defRPr>
            </a:pPr>
            <a:r>
              <a:t>ms-swift JSONL 格式（messages 聊天风格）：</a:t>
            </a:r>
          </a:p>
        </p:txBody>
      </p:sp>
      <p:sp>
        <p:nvSpPr>
          <p:cNvPr id="8" name="TextBox 7"/>
          <p:cNvSpPr txBox="1"/>
          <p:nvPr/>
        </p:nvSpPr>
        <p:spPr>
          <a:solidFill>
            <a:srgbClr val="1E1E2E"/>
          </a:solidFill>
          <a:xfrm>
            <a:off x="6217920" y="2560320"/>
            <a:ext cx="53035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F8F8F2"/>
                </a:solidFill>
                <a:latin typeface="Consolas"/>
              </a:defRPr>
            </a:pPr>
            <a:r>
              <a:t>{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F8F8F2"/>
                </a:solidFill>
                <a:latin typeface="Consolas"/>
              </a:defRPr>
            </a:pPr>
            <a:r>
              <a:t>  "messages": [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E6DB74"/>
                </a:solidFill>
                <a:latin typeface="Consolas"/>
              </a:defRPr>
            </a:pPr>
            <a:r>
              <a:t>    {"role": "system",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F8F8F2"/>
                </a:solidFill>
                <a:latin typeface="Consolas"/>
              </a:defRPr>
            </a:pPr>
            <a:r>
              <a:t>     "content": "你是机房设备运维专家..."},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A6E22E"/>
                </a:solidFill>
                <a:latin typeface="Consolas"/>
              </a:defRPr>
            </a:pPr>
            <a:r>
              <a:t>    {"role": "user",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F8F8F2"/>
                </a:solidFill>
                <a:latin typeface="Consolas"/>
              </a:defRPr>
            </a:pPr>
            <a:r>
              <a:t>     "content": "告警摘要（已压缩整理）..."},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E6DB74"/>
                </a:solidFill>
                <a:latin typeface="Consolas"/>
              </a:defRPr>
            </a:pPr>
            <a:r>
              <a:t>    {"role": "assistant",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F8F8F2"/>
                </a:solidFill>
                <a:latin typeface="Consolas"/>
              </a:defRPr>
            </a:pPr>
            <a:r>
              <a:t>     "content": "# 关联告警根因分析报告..."}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F8F8F2"/>
                </a:solidFill>
                <a:latin typeface="Consolas"/>
              </a:defRPr>
            </a:pPr>
            <a:r>
              <a:t>  ]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F8F8F2"/>
                </a:solidFill>
                <a:latin typeface="Consolas"/>
              </a:defRPr>
            </a:pPr>
            <a:r>
              <a:t>}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4389120"/>
          <a:ext cx="1097280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3200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数据集版本</a:t>
                      </a:r>
                    </a:p>
                  </a:txBody>
                  <a:tcPr>
                    <a:solidFill>
                      <a:srgbClr val="2B579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格式</a:t>
                      </a:r>
                    </a:p>
                  </a:txBody>
                  <a:tcPr>
                    <a:solidFill>
                      <a:srgbClr val="2B579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样本数</a:t>
                      </a:r>
                    </a:p>
                  </a:txBody>
                  <a:tcPr>
                    <a:solidFill>
                      <a:srgbClr val="2B579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用途</a:t>
                      </a:r>
                    </a:p>
                  </a:txBody>
                  <a:tcPr>
                    <a:solidFill>
                      <a:srgbClr val="2B579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alarm_analysis_swift_sft_v1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JSONL (messages)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~250+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ms-swift LoRA-SFT 训练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alarm_analysis_train_v1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JSON (Alpaca)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~250+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LLaMA-Factory 训练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alarm_analysis_eval_v1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JSONL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Ollama 离线评测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3C6E"/>
                </a:solidFill>
                <a:latin typeface="微软雅黑"/>
              </a:defRPr>
            </a:pPr>
            <a:r>
              <a:t>四、环境搭建：ms-swift 安装配置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B579A"/>
                </a:solidFill>
                <a:latin typeface="微软雅黑"/>
              </a:defRPr>
            </a:pPr>
            <a:r>
              <a:t>WSL / Linux 环境下的 ms-swift 安装</a:t>
            </a:r>
          </a:p>
        </p:txBody>
      </p:sp>
      <p:sp>
        <p:nvSpPr>
          <p:cNvPr id="4" name="TextBox 3"/>
          <p:cNvSpPr txBox="1"/>
          <p:nvPr/>
        </p:nvSpPr>
        <p:spPr>
          <a:solidFill>
            <a:srgbClr val="1E1E2E"/>
          </a:solidFill>
          <a:xfrm>
            <a:off x="365760" y="137160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75715E"/>
                </a:solidFill>
                <a:latin typeface="Consolas"/>
              </a:defRPr>
            </a:pPr>
            <a:r>
              <a:t># 1. 创建 conda 环境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A6E22E"/>
                </a:solidFill>
                <a:latin typeface="Consolas"/>
              </a:defRPr>
            </a:pPr>
            <a:r>
              <a:t>conda create -n swift python=3.11 -y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A6E22E"/>
                </a:solidFill>
                <a:latin typeface="Consolas"/>
              </a:defRPr>
            </a:pPr>
            <a:r>
              <a:t>conda activate swift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F8F8F2"/>
                </a:solidFill>
                <a:latin typeface="Consolas"/>
              </a:defRPr>
            </a:pP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75715E"/>
                </a:solidFill>
                <a:latin typeface="Consolas"/>
              </a:defRPr>
            </a:pPr>
            <a:r>
              <a:t># 2. 安装 PyTorch (CUDA 12.1)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A6E22E"/>
                </a:solidFill>
                <a:latin typeface="Consolas"/>
              </a:defRPr>
            </a:pPr>
            <a:r>
              <a:t>pip install torch torchvision torchaudio \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F8F8F2"/>
                </a:solidFill>
                <a:latin typeface="Consolas"/>
              </a:defRPr>
            </a:pPr>
            <a:r>
              <a:t>    --index-url https://download.pytorch.org/whl/cu121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F8F8F2"/>
                </a:solidFill>
                <a:latin typeface="Consolas"/>
              </a:defRPr>
            </a:pP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75715E"/>
                </a:solidFill>
                <a:latin typeface="Consolas"/>
              </a:defRPr>
            </a:pPr>
            <a:r>
              <a:t># 3. 安装 ms-swift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A6E22E"/>
                </a:solidFill>
                <a:latin typeface="Consolas"/>
              </a:defRPr>
            </a:pPr>
            <a:r>
              <a:t>pip install 'ms-swift[llm]' -U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F8F8F2"/>
                </a:solidFill>
                <a:latin typeface="Consolas"/>
              </a:defRPr>
            </a:pP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75715E"/>
                </a:solidFill>
                <a:latin typeface="Consolas"/>
              </a:defRPr>
            </a:pPr>
            <a:r>
              <a:t># 4. 验证安装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A6E22E"/>
                </a:solidFill>
                <a:latin typeface="Consolas"/>
              </a:defRPr>
            </a:pPr>
            <a:r>
              <a:t>swift sft --help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E6DB74"/>
                </a:solidFill>
                <a:latin typeface="Consolas"/>
              </a:defRPr>
            </a:pPr>
            <a:r>
              <a:t>python -c "import torch; print(torch.cuda.is_available())"</a:t>
            </a:r>
          </a:p>
        </p:txBody>
      </p:sp>
      <p:sp>
        <p:nvSpPr>
          <p:cNvPr id="5" name="TextBox 4"/>
          <p:cNvSpPr txBox="1"/>
          <p:nvPr/>
        </p:nvSpPr>
        <p:spPr>
          <a:solidFill>
            <a:srgbClr val="1E1E2E"/>
          </a:solidFill>
          <a:xfrm>
            <a:off x="5943600" y="137160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75715E"/>
                </a:solidFill>
                <a:latin typeface="Consolas"/>
              </a:defRPr>
            </a:pPr>
            <a:r>
              <a:t># 5. 下载基础模型（使用 ModelScope）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A6E22E"/>
                </a:solidFill>
                <a:latin typeface="Consolas"/>
              </a:defRPr>
            </a:pPr>
            <a:r>
              <a:t>export USE_MODELSCOPE_HUB=1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75715E"/>
                </a:solidFill>
                <a:latin typeface="Consolas"/>
              </a:defRPr>
            </a:pPr>
            <a:r>
              <a:t># 或使用 HuggingFace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E6DB74"/>
                </a:solidFill>
                <a:latin typeface="Consolas"/>
              </a:defRPr>
            </a:pPr>
            <a:r>
              <a:t>export HF_ENDPOINT=https://hf-mirror.com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F8F8F2"/>
                </a:solidFill>
                <a:latin typeface="Consolas"/>
              </a:defRPr>
            </a:pP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75715E"/>
                </a:solidFill>
                <a:latin typeface="Consolas"/>
              </a:defRPr>
            </a:pPr>
            <a:r>
              <a:t># 模型将自动在首次训练时下载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75715E"/>
                </a:solidFill>
                <a:latin typeface="Consolas"/>
              </a:defRPr>
            </a:pPr>
            <a:r>
              <a:t># 推荐手动下载到本地缓存目录: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A6E22E"/>
                </a:solidFill>
                <a:latin typeface="Consolas"/>
              </a:defRPr>
            </a:pPr>
            <a:r>
              <a:t>modelscope download \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F8F8F2"/>
                </a:solidFill>
                <a:latin typeface="Consolas"/>
              </a:defRPr>
            </a:pPr>
            <a:r>
              <a:t>  --model Qwen/Qwen3.5-9B-Base \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F8F8F2"/>
                </a:solidFill>
                <a:latin typeface="Consolas"/>
              </a:defRPr>
            </a:pPr>
            <a:r>
              <a:t>  --local_dir /data/models/Qwen3.5-9B-Base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F8F8F2"/>
                </a:solidFill>
                <a:latin typeface="Consolas"/>
              </a:defRPr>
            </a:pP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75715E"/>
                </a:solidFill>
                <a:latin typeface="Consolas"/>
              </a:defRPr>
            </a:pPr>
            <a:r>
              <a:t># 6. GPU 要求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E6DB74"/>
                </a:solidFill>
                <a:latin typeface="Consolas"/>
              </a:defRPr>
            </a:pPr>
            <a:r>
              <a:t># 单卡: NVIDIA A100/A800 40GB+ (推荐)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E6DB74"/>
                </a:solidFill>
                <a:latin typeface="Consolas"/>
              </a:defRPr>
            </a:pPr>
            <a:r>
              <a:t># 单卡: RTX 4090 24GB (需优化 batch_size)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46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86C00"/>
                </a:solidFill>
                <a:latin typeface="微软雅黑"/>
              </a:defRPr>
            </a:pPr>
            <a:r>
              <a:t>硬件要求：单卡 24GB+ 显存 (LoRA 训练) | 推荐 A100 40GB 或 RTX 4090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212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微软雅黑"/>
              </a:defRPr>
            </a:pPr>
            <a:r>
              <a:t>软件环境：Python 3.11 + PyTorch 2.x + CUDA 12.1+ + ms-swift latest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3C6E"/>
                </a:solidFill>
                <a:latin typeface="微软雅黑"/>
              </a:defRPr>
            </a:pPr>
            <a:r>
              <a:t>五、训练配置详解：LoRA-SFT 参数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B579A"/>
                </a:solidFill>
                <a:latin typeface="微软雅黑"/>
              </a:defRPr>
            </a:pPr>
            <a:r>
              <a:t>swift.train.yaml 配置文件解析</a:t>
            </a:r>
          </a:p>
        </p:txBody>
      </p:sp>
      <p:sp>
        <p:nvSpPr>
          <p:cNvPr id="4" name="TextBox 3"/>
          <p:cNvSpPr txBox="1"/>
          <p:nvPr/>
        </p:nvSpPr>
        <p:spPr>
          <a:solidFill>
            <a:srgbClr val="1E1E2E"/>
          </a:solidFill>
          <a:xfrm>
            <a:off x="365760" y="137160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75715E"/>
                </a:solidFill>
                <a:latin typeface="Consolas"/>
              </a:defRPr>
            </a:pPr>
            <a:r>
              <a:t># swift.train.yaml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75715E"/>
                </a:solidFill>
                <a:latin typeface="Consolas"/>
              </a:defRPr>
            </a:pPr>
            <a:r>
              <a:t># 基础模型配置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A6E22E"/>
                </a:solidFill>
                <a:latin typeface="Consolas"/>
              </a:defRPr>
            </a:pPr>
            <a:r>
              <a:t>model: Qwen/Qwen3.5-9B-Base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E6DB74"/>
                </a:solidFill>
                <a:latin typeface="Consolas"/>
              </a:defRPr>
            </a:pPr>
            <a:r>
              <a:t>template: qwen3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F8F8F2"/>
                </a:solidFill>
                <a:latin typeface="Consolas"/>
              </a:defRPr>
            </a:pP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75715E"/>
                </a:solidFill>
                <a:latin typeface="Consolas"/>
              </a:defRPr>
            </a:pPr>
            <a:r>
              <a:t># 数据集配置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A6E22E"/>
                </a:solidFill>
                <a:latin typeface="Consolas"/>
              </a:defRPr>
            </a:pPr>
            <a:r>
              <a:t>dataset: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F8F8F2"/>
                </a:solidFill>
                <a:latin typeface="Consolas"/>
              </a:defRPr>
            </a:pPr>
            <a:r>
              <a:t>  - runtime/datasets/alarm_analysis_swift_sft_v1/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F8F8F2"/>
                </a:solidFill>
                <a:latin typeface="Consolas"/>
              </a:defRPr>
            </a:pPr>
            <a:r>
              <a:t>    alarm_analysis_swift_sft_v1.jsonl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F8F8F2"/>
                </a:solidFill>
                <a:latin typeface="Consolas"/>
              </a:defRPr>
            </a:pP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75715E"/>
                </a:solidFill>
                <a:latin typeface="Consolas"/>
              </a:defRPr>
            </a:pPr>
            <a:r>
              <a:t># LoRA 参数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A6E22E"/>
                </a:solidFill>
                <a:latin typeface="Consolas"/>
              </a:defRPr>
            </a:pPr>
            <a:r>
              <a:t>train_type: lora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E6DB74"/>
                </a:solidFill>
                <a:latin typeface="Consolas"/>
              </a:defRPr>
            </a:pPr>
            <a:r>
              <a:t>lora_rank: 64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E6DB74"/>
                </a:solidFill>
                <a:latin typeface="Consolas"/>
              </a:defRPr>
            </a:pPr>
            <a:r>
              <a:t>lora_alpha: 128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A6E22E"/>
                </a:solidFill>
                <a:latin typeface="Consolas"/>
              </a:defRPr>
            </a:pPr>
            <a:r>
              <a:t>target_modules: all-linear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F8F8F2"/>
                </a:solidFill>
                <a:latin typeface="Consolas"/>
              </a:defRPr>
            </a:pP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75715E"/>
                </a:solidFill>
                <a:latin typeface="Consolas"/>
              </a:defRPr>
            </a:pPr>
            <a:r>
              <a:t># 训练超参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E6DB74"/>
                </a:solidFill>
                <a:latin typeface="Consolas"/>
              </a:defRPr>
            </a:pPr>
            <a:r>
              <a:t>num_train_epochs: 3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F8F8F2"/>
                </a:solidFill>
                <a:latin typeface="Consolas"/>
              </a:defRPr>
            </a:pPr>
            <a:r>
              <a:t>max_length: 4096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F8F8F2"/>
                </a:solidFill>
                <a:latin typeface="Consolas"/>
              </a:defRPr>
            </a:pPr>
            <a:r>
              <a:t>per_device_train_batch_size: 1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F8F8F2"/>
                </a:solidFill>
                <a:latin typeface="Consolas"/>
              </a:defRPr>
            </a:pPr>
            <a:r>
              <a:t>gradient_accumulation_steps: 8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E6DB74"/>
                </a:solidFill>
                <a:latin typeface="Consolas"/>
              </a:defRPr>
            </a:pPr>
            <a:r>
              <a:t>learning_rate: 2.0e-4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0" y="1371600"/>
          <a:ext cx="54864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3200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参数</a:t>
                      </a:r>
                    </a:p>
                  </a:txBody>
                  <a:tcPr>
                    <a:solidFill>
                      <a:srgbClr val="2B579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值</a:t>
                      </a:r>
                    </a:p>
                  </a:txBody>
                  <a:tcPr>
                    <a:solidFill>
                      <a:srgbClr val="2B579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说明</a:t>
                      </a:r>
                    </a:p>
                  </a:txBody>
                  <a:tcPr>
                    <a:solidFill>
                      <a:srgbClr val="2B579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Qwen/Qwen3.5-9B-Base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基础模型路径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train_type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lora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LoRA 低秩适应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lora_rank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LoRA 秩（能力与显存平衡）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lora_alpha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LoRA 缩放系数（通常=2×rank）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target_modules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all-linear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对所有线性层应用 LoRA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template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qwen3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Qwen3 对话模板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max_length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4096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最大序列长度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num_train_epochs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训练轮数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batch_size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单卡 batch size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grad_accum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梯度累积步数（等效 bs=8）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learning_rate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2e-4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学习率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3C6E"/>
                </a:solidFill>
                <a:latin typeface="微软雅黑"/>
              </a:defRPr>
            </a:pPr>
            <a:r>
              <a:t>六、训练执行：swift sft 命令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B579A"/>
                </a:solidFill>
                <a:latin typeface="微软雅黑"/>
              </a:defRPr>
            </a:pPr>
            <a:r>
              <a:t>一键启动 LoRA-SFT 训练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微软雅黑"/>
              </a:defRPr>
            </a:pPr>
            <a:r>
              <a:t>方式一：使用配置文件（推荐）</a:t>
            </a:r>
          </a:p>
        </p:txBody>
      </p:sp>
      <p:sp>
        <p:nvSpPr>
          <p:cNvPr id="5" name="TextBox 4"/>
          <p:cNvSpPr txBox="1"/>
          <p:nvPr/>
        </p:nvSpPr>
        <p:spPr>
          <a:solidFill>
            <a:srgbClr val="1E1E2E"/>
          </a:solidFill>
          <a:xfrm>
            <a:off x="365760" y="164592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75715E"/>
                </a:solidFill>
                <a:latin typeface="Consolas"/>
              </a:defRPr>
            </a:pPr>
            <a:r>
              <a:t># 使用 YAML 配置文件启动训练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A6E22E"/>
                </a:solidFill>
                <a:latin typeface="Consolas"/>
              </a:defRPr>
            </a:pPr>
            <a:r>
              <a:t>CUDA_VISIBLE_DEVICES=0 swift sft --config swift.train.yaml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260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微软雅黑"/>
              </a:defRPr>
            </a:pPr>
            <a:r>
              <a:t>方式二：命令行直接指定参数</a:t>
            </a:r>
          </a:p>
        </p:txBody>
      </p:sp>
      <p:sp>
        <p:nvSpPr>
          <p:cNvPr id="7" name="TextBox 6"/>
          <p:cNvSpPr txBox="1"/>
          <p:nvPr/>
        </p:nvSpPr>
        <p:spPr>
          <a:solidFill>
            <a:srgbClr val="1E1E2E"/>
          </a:solidFill>
          <a:xfrm>
            <a:off x="365760" y="3200400"/>
            <a:ext cx="111556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A6E22E"/>
                </a:solidFill>
                <a:latin typeface="Consolas"/>
              </a:defRPr>
            </a:pPr>
            <a:r>
              <a:t>CUDA_VISIBLE_DEVICES=0 swift sft \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F8F8F2"/>
                </a:solidFill>
                <a:latin typeface="Consolas"/>
              </a:defRPr>
            </a:pPr>
            <a:r>
              <a:t>  --model Qwen/Qwen3.5-9B-Base \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F8F8F2"/>
                </a:solidFill>
                <a:latin typeface="Consolas"/>
              </a:defRPr>
            </a:pPr>
            <a:r>
              <a:t>  --dataset runtime/datasets/alarm_analysis_swift_sft_v1/alarm_analysis_swift_sft_v1.jsonl \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E6DB74"/>
                </a:solidFill>
                <a:latin typeface="Consolas"/>
              </a:defRPr>
            </a:pPr>
            <a:r>
              <a:t>  --train_type lora \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F8F8F2"/>
                </a:solidFill>
                <a:latin typeface="Consolas"/>
              </a:defRPr>
            </a:pPr>
            <a:r>
              <a:t>  --template qwen3 \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F8F8F2"/>
                </a:solidFill>
                <a:latin typeface="Consolas"/>
              </a:defRPr>
            </a:pPr>
            <a:r>
              <a:t>  --max_length 4096 \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F8F8F2"/>
                </a:solidFill>
                <a:latin typeface="Consolas"/>
              </a:defRPr>
            </a:pPr>
            <a:r>
              <a:t>  --num_train_epochs 3 \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F8F8F2"/>
                </a:solidFill>
                <a:latin typeface="Consolas"/>
              </a:defRPr>
            </a:pPr>
            <a:r>
              <a:t>  --per_device_train_batch_size 1 \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F8F8F2"/>
                </a:solidFill>
                <a:latin typeface="Consolas"/>
              </a:defRPr>
            </a:pPr>
            <a:r>
              <a:t>  --gradient_accumulation_steps 8 \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E6DB74"/>
                </a:solidFill>
                <a:latin typeface="Consolas"/>
              </a:defRPr>
            </a:pPr>
            <a:r>
              <a:t>  --lora_rank 64 \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E6DB74"/>
                </a:solidFill>
                <a:latin typeface="Consolas"/>
              </a:defRPr>
            </a:pPr>
            <a:r>
              <a:t>  --lora_alpha 128 \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F8F8F2"/>
                </a:solidFill>
                <a:latin typeface="Consolas"/>
              </a:defRPr>
            </a:pPr>
            <a:r>
              <a:t>  --target_modules all-linear \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A6E22E"/>
                </a:solidFill>
                <a:latin typeface="Consolas"/>
              </a:defRPr>
            </a:pPr>
            <a:r>
              <a:t>  --output_dir runtime/runs/{run_id}/output/adapter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669280"/>
            <a:ext cx="10972800" cy="457200"/>
          </a:xfrm>
          <a:prstGeom prst="rect">
            <a:avLst/>
          </a:prstGeom>
          <a:noFill/>
          <a:ln w="12700">
            <a:solidFill>
              <a:srgbClr val="CCCCCC"/>
            </a:solidFill>
            <a:prstDash val="dash"/>
          </a:ln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666666"/>
                </a:solidFill>
                <a:latin typeface="微软雅黑"/>
              </a:defRPr>
            </a:pPr>
            <a:r>
              <a:t>📷 训练过程 loss 曲线截图（训练完成后粘贴）</a:t>
            </a:r>
          </a:p>
          <a:p>
            <a:pPr algn="ctr">
              <a:defRPr sz="1200">
                <a:solidFill>
                  <a:srgbClr val="666666"/>
                </a:solidFill>
                <a:latin typeface="微软雅黑"/>
              </a:defRPr>
            </a:pPr>
            <a:r>
              <a:t>（请在此处粘贴实际截图）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3C6E"/>
                </a:solidFill>
                <a:latin typeface="微软雅黑"/>
              </a:defRPr>
            </a:pPr>
            <a:r>
              <a:t>六、进阶：多卡训练与 DeepSpeed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B579A"/>
                </a:solidFill>
                <a:latin typeface="微软雅黑"/>
              </a:defRPr>
            </a:pPr>
            <a:r>
              <a:t>加速训练的多种方式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微软雅黑"/>
              </a:defRPr>
            </a:pPr>
            <a:r>
              <a:t>多卡数据并行训练：</a:t>
            </a:r>
          </a:p>
        </p:txBody>
      </p:sp>
      <p:sp>
        <p:nvSpPr>
          <p:cNvPr id="5" name="TextBox 4"/>
          <p:cNvSpPr txBox="1"/>
          <p:nvPr/>
        </p:nvSpPr>
        <p:spPr>
          <a:solidFill>
            <a:srgbClr val="1E1E2E"/>
          </a:solidFill>
          <a:xfrm>
            <a:off x="365760" y="164592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75715E"/>
                </a:solidFill>
                <a:latin typeface="Consolas"/>
              </a:defRPr>
            </a:pPr>
            <a:r>
              <a:t># 双卡数据并行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A6E22E"/>
                </a:solidFill>
                <a:latin typeface="Consolas"/>
              </a:defRPr>
            </a:pPr>
            <a:r>
              <a:t>CUDA_VISIBLE_DEVICES=0,1 \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A6E22E"/>
                </a:solidFill>
                <a:latin typeface="Consolas"/>
              </a:defRPr>
            </a:pPr>
            <a:r>
              <a:t>NPROC_PER_NODE=2 \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E6DB74"/>
                </a:solidFill>
                <a:latin typeface="Consolas"/>
              </a:defRPr>
            </a:pPr>
            <a:r>
              <a:t>swift sft --config swift.train.yaml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004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微软雅黑"/>
              </a:defRPr>
            </a:pPr>
            <a:r>
              <a:t>使用 DeepSpeed ZeRO-2 优化显存：</a:t>
            </a:r>
          </a:p>
        </p:txBody>
      </p:sp>
      <p:sp>
        <p:nvSpPr>
          <p:cNvPr id="7" name="TextBox 6"/>
          <p:cNvSpPr txBox="1"/>
          <p:nvPr/>
        </p:nvSpPr>
        <p:spPr>
          <a:solidFill>
            <a:srgbClr val="1E1E2E"/>
          </a:solidFill>
          <a:xfrm>
            <a:off x="365760" y="3474720"/>
            <a:ext cx="5486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75715E"/>
                </a:solidFill>
                <a:latin typeface="Consolas"/>
              </a:defRPr>
            </a:pPr>
            <a:r>
              <a:t># DeepSpeed ZeRO-2（推荐多卡场景）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A6E22E"/>
                </a:solidFill>
                <a:latin typeface="Consolas"/>
              </a:defRPr>
            </a:pPr>
            <a:r>
              <a:t>CUDA_VISIBLE_DEVICES=0,1 \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A6E22E"/>
                </a:solidFill>
                <a:latin typeface="Consolas"/>
              </a:defRPr>
            </a:pPr>
            <a:r>
              <a:t>NPROC_PER_NODE=2 \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E6DB74"/>
                </a:solidFill>
                <a:latin typeface="Consolas"/>
              </a:defRPr>
            </a:pPr>
            <a:r>
              <a:t>swift sft \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F8F8F2"/>
                </a:solidFill>
                <a:latin typeface="Consolas"/>
              </a:defRPr>
            </a:pPr>
            <a:r>
              <a:t>  --config swift.train.yaml \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A6E22E"/>
                </a:solidFill>
                <a:latin typeface="Consolas"/>
              </a:defRPr>
            </a:pPr>
            <a:r>
              <a:t>  --deepspeed zero2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3716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微软雅黑"/>
              </a:defRPr>
            </a:pPr>
            <a:r>
              <a:t>训练监控（TensorBoard/SwanLab）：</a:t>
            </a:r>
          </a:p>
        </p:txBody>
      </p:sp>
      <p:sp>
        <p:nvSpPr>
          <p:cNvPr id="9" name="TextBox 8"/>
          <p:cNvSpPr txBox="1"/>
          <p:nvPr/>
        </p:nvSpPr>
        <p:spPr>
          <a:solidFill>
            <a:srgbClr val="1E1E2E"/>
          </a:solidFill>
          <a:xfrm>
            <a:off x="6126480" y="1645920"/>
            <a:ext cx="5303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75715E"/>
                </a:solidFill>
                <a:latin typeface="Consolas"/>
              </a:defRPr>
            </a:pPr>
            <a:r>
              <a:t># 查看训练日志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A6E22E"/>
                </a:solidFill>
                <a:latin typeface="Consolas"/>
              </a:defRPr>
            </a:pPr>
            <a:r>
              <a:t>tensorboard --logdir runtime/runs/{run_id}/logs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F8F8F2"/>
                </a:solidFill>
                <a:latin typeface="Consolas"/>
              </a:defRPr>
            </a:pP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75715E"/>
                </a:solidFill>
                <a:latin typeface="Consolas"/>
              </a:defRPr>
            </a:pPr>
            <a:r>
              <a:t># 或使用 SwanLab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E6DB74"/>
                </a:solidFill>
                <a:latin typeface="Consolas"/>
              </a:defRPr>
            </a:pPr>
            <a:r>
              <a:t>swift sft --config swift.train.yaml \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A6E22E"/>
                </a:solidFill>
                <a:latin typeface="Consolas"/>
              </a:defRPr>
            </a:pPr>
            <a:r>
              <a:t>  --report_to swanlab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3474720"/>
            <a:ext cx="5303520" cy="2286000"/>
          </a:xfrm>
          <a:prstGeom prst="rect">
            <a:avLst/>
          </a:prstGeom>
          <a:noFill/>
          <a:ln w="12700">
            <a:solidFill>
              <a:srgbClr val="CCCCCC"/>
            </a:solidFill>
            <a:prstDash val="dash"/>
          </a:ln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666666"/>
                </a:solidFill>
                <a:latin typeface="微软雅黑"/>
              </a:defRPr>
            </a:pPr>
            <a:r>
              <a:t>📷 TensorBoard 训练 loss 曲线截图</a:t>
            </a:r>
          </a:p>
          <a:p>
            <a:pPr algn="ctr">
              <a:defRPr sz="1200">
                <a:solidFill>
                  <a:srgbClr val="666666"/>
                </a:solidFill>
                <a:latin typeface="微软雅黑"/>
              </a:defRPr>
            </a:pPr>
            <a:r>
              <a:t>（请在此处粘贴实际截图）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3C6E"/>
                </a:solidFill>
                <a:latin typeface="微软雅黑"/>
              </a:defRPr>
            </a:pPr>
            <a:r>
              <a:t>七、模型导出：LoRA 合并与量化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B579A"/>
                </a:solidFill>
                <a:latin typeface="微软雅黑"/>
              </a:defRPr>
            </a:pPr>
            <a:r>
              <a:t>训练完成后的模型导出流程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微软雅黑"/>
              </a:defRPr>
            </a:pPr>
            <a:r>
              <a:t>步骤一：合并 LoRA 适配器到基础模型</a:t>
            </a:r>
          </a:p>
        </p:txBody>
      </p:sp>
      <p:sp>
        <p:nvSpPr>
          <p:cNvPr id="5" name="TextBox 4"/>
          <p:cNvSpPr txBox="1"/>
          <p:nvPr/>
        </p:nvSpPr>
        <p:spPr>
          <a:solidFill>
            <a:srgbClr val="1E1E2E"/>
          </a:solidFill>
          <a:xfrm>
            <a:off x="365760" y="1645920"/>
            <a:ext cx="11155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75715E"/>
                </a:solidFill>
                <a:latin typeface="Consolas"/>
              </a:defRPr>
            </a:pPr>
            <a:r>
              <a:t># 合并 LoRA adapter 到基础模型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A6E22E"/>
                </a:solidFill>
                <a:latin typeface="Consolas"/>
              </a:defRPr>
            </a:pPr>
            <a:r>
              <a:t>swift export \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F8F8F2"/>
                </a:solidFill>
                <a:latin typeface="Consolas"/>
              </a:defRPr>
            </a:pPr>
            <a:r>
              <a:t>  --model Qwen/Qwen3.5-9B-Base \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E6DB74"/>
                </a:solidFill>
                <a:latin typeface="Consolas"/>
              </a:defRPr>
            </a:pPr>
            <a:r>
              <a:t>  --adapters runtime/runs/{run_id}/output/adapter \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F8F8F2"/>
                </a:solidFill>
                <a:latin typeface="Consolas"/>
              </a:defRPr>
            </a:pPr>
            <a:r>
              <a:t>  --merge_lora true \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A6E22E"/>
                </a:solidFill>
                <a:latin typeface="Consolas"/>
              </a:defRPr>
            </a:pPr>
            <a:r>
              <a:t>  --output_dir runtime/runs/{run_id}/output/merged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918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微软雅黑"/>
              </a:defRPr>
            </a:pPr>
            <a:r>
              <a:t>步骤二：量化为 GGUF 格式（用于 Ollama 部署）</a:t>
            </a:r>
          </a:p>
        </p:txBody>
      </p:sp>
      <p:sp>
        <p:nvSpPr>
          <p:cNvPr id="7" name="TextBox 6"/>
          <p:cNvSpPr txBox="1"/>
          <p:nvPr/>
        </p:nvSpPr>
        <p:spPr>
          <a:solidFill>
            <a:srgbClr val="1E1E2E"/>
          </a:solidFill>
          <a:xfrm>
            <a:off x="365760" y="3566160"/>
            <a:ext cx="11155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75715E"/>
                </a:solidFill>
                <a:latin typeface="Consolas"/>
              </a:defRPr>
            </a:pPr>
            <a:r>
              <a:t># 使用 llama.cpp 转换为 GGUF 格式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A6E22E"/>
                </a:solidFill>
                <a:latin typeface="Consolas"/>
              </a:defRPr>
            </a:pPr>
            <a:r>
              <a:t>python llama.cpp/convert_hf_to_gguf.py \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F8F8F2"/>
                </a:solidFill>
                <a:latin typeface="Consolas"/>
              </a:defRPr>
            </a:pPr>
            <a:r>
              <a:t>  runtime/runs/{run_id}/output/merged \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E6DB74"/>
                </a:solidFill>
                <a:latin typeface="Consolas"/>
              </a:defRPr>
            </a:pPr>
            <a:r>
              <a:t>  --outfile runtime/artifacts/gguf/alarm-qwen35-9b-sft.gguf \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A6E22E"/>
                </a:solidFill>
                <a:latin typeface="Consolas"/>
              </a:defRPr>
            </a:pPr>
            <a:r>
              <a:t>  --outtype q4_k_m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120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86C00"/>
                </a:solidFill>
                <a:latin typeface="微软雅黑"/>
              </a:defRPr>
            </a:pPr>
            <a:r>
              <a:t>导出产物：merged/ (完整 HF 权重) → .gguf (量化后) → Ollama 模型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669280"/>
            <a:ext cx="10972800" cy="457200"/>
          </a:xfrm>
          <a:prstGeom prst="rect">
            <a:avLst/>
          </a:prstGeom>
          <a:noFill/>
          <a:ln w="12700">
            <a:solidFill>
              <a:srgbClr val="CCCCCC"/>
            </a:solidFill>
            <a:prstDash val="dash"/>
          </a:ln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666666"/>
                </a:solidFill>
                <a:latin typeface="微软雅黑"/>
              </a:defRPr>
            </a:pPr>
            <a:r>
              <a:t>📷 导出命令执行输出截图</a:t>
            </a:r>
          </a:p>
          <a:p>
            <a:pPr algn="ctr">
              <a:defRPr sz="1200">
                <a:solidFill>
                  <a:srgbClr val="666666"/>
                </a:solidFill>
                <a:latin typeface="微软雅黑"/>
              </a:defRPr>
            </a:pPr>
            <a:r>
              <a:t>（请在此处粘贴实际截图）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3C6E"/>
                </a:solidFill>
                <a:latin typeface="微软雅黑"/>
              </a:defRPr>
            </a:pPr>
            <a:r>
              <a:t>八、模型部署：Ollama 注册与推理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B579A"/>
                </a:solidFill>
                <a:latin typeface="微软雅黑"/>
              </a:defRPr>
            </a:pPr>
            <a:r>
              <a:t>本地推理服务搭建</a:t>
            </a:r>
          </a:p>
        </p:txBody>
      </p:sp>
      <p:sp>
        <p:nvSpPr>
          <p:cNvPr id="4" name="TextBox 3"/>
          <p:cNvSpPr txBox="1"/>
          <p:nvPr/>
        </p:nvSpPr>
        <p:spPr>
          <a:solidFill>
            <a:srgbClr val="1E1E2E"/>
          </a:solidFill>
          <a:xfrm>
            <a:off x="365760" y="137160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75715E"/>
                </a:solidFill>
                <a:latin typeface="Consolas"/>
              </a:defRPr>
            </a:pPr>
            <a:r>
              <a:t># 1. 编写 Modelfile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A6E22E"/>
                </a:solidFill>
                <a:latin typeface="Consolas"/>
              </a:defRPr>
            </a:pPr>
            <a:r>
              <a:t>FROM ./alarm-qwen35-9b-sft.gguf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F8F8F2"/>
                </a:solidFill>
                <a:latin typeface="Consolas"/>
              </a:defRPr>
            </a:pP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E6DB74"/>
                </a:solidFill>
                <a:latin typeface="Consolas"/>
              </a:defRPr>
            </a:pPr>
            <a:r>
              <a:t>SYSTEM """你是机房设备运维专家，请基于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E6DB74"/>
                </a:solidFill>
                <a:latin typeface="Consolas"/>
              </a:defRPr>
            </a:pPr>
            <a:r>
              <a:t>压缩整理后的动环监控平台关联告警摘要，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E6DB74"/>
                </a:solidFill>
                <a:latin typeface="Consolas"/>
              </a:defRPr>
            </a:pPr>
            <a:r>
              <a:t>分析根本原因、影响范围和处置建议。"""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F8F8F2"/>
                </a:solidFill>
                <a:latin typeface="Consolas"/>
              </a:defRPr>
            </a:pP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F8F8F2"/>
                </a:solidFill>
                <a:latin typeface="Consolas"/>
              </a:defRPr>
            </a:pPr>
            <a:r>
              <a:t>PARAMETER temperature 0.1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F8F8F2"/>
                </a:solidFill>
                <a:latin typeface="Consolas"/>
              </a:defRPr>
            </a:pPr>
            <a:r>
              <a:t>PARAMETER top_p 0.8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A6E22E"/>
                </a:solidFill>
                <a:latin typeface="Consolas"/>
              </a:defRPr>
            </a:pPr>
            <a:r>
              <a:t>PARAMETER num_ctx 8192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F8F8F2"/>
                </a:solidFill>
                <a:latin typeface="Consolas"/>
              </a:defRPr>
            </a:pPr>
            <a:r>
              <a:t>PARAMETER seed 42</a:t>
            </a:r>
          </a:p>
        </p:txBody>
      </p:sp>
      <p:sp>
        <p:nvSpPr>
          <p:cNvPr id="5" name="TextBox 4"/>
          <p:cNvSpPr txBox="1"/>
          <p:nvPr/>
        </p:nvSpPr>
        <p:spPr>
          <a:solidFill>
            <a:srgbClr val="1E1E2E"/>
          </a:solidFill>
          <a:xfrm>
            <a:off x="5943600" y="137160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75715E"/>
                </a:solidFill>
                <a:latin typeface="Consolas"/>
              </a:defRPr>
            </a:pPr>
            <a:r>
              <a:t># 2. 注册到 Ollama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A6E22E"/>
                </a:solidFill>
                <a:latin typeface="Consolas"/>
              </a:defRPr>
            </a:pPr>
            <a:r>
              <a:t>ollama create alarm-swift-qwen35-9b \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F8F8F2"/>
                </a:solidFill>
                <a:latin typeface="Consolas"/>
              </a:defRPr>
            </a:pPr>
            <a:r>
              <a:t>  -f Modelfile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F8F8F2"/>
                </a:solidFill>
                <a:latin typeface="Consolas"/>
              </a:defRPr>
            </a:pP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75715E"/>
                </a:solidFill>
                <a:latin typeface="Consolas"/>
              </a:defRPr>
            </a:pPr>
            <a:r>
              <a:t># 3. 测试推理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A6E22E"/>
                </a:solidFill>
                <a:latin typeface="Consolas"/>
              </a:defRPr>
            </a:pPr>
            <a:r>
              <a:t>ollama run alarm-swift-qwen35-9b \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F8F8F2"/>
                </a:solidFill>
                <a:latin typeface="Consolas"/>
              </a:defRPr>
            </a:pPr>
            <a:r>
              <a:t>  "告警摘要（已压缩整理）\n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F8F8F2"/>
                </a:solidFill>
                <a:latin typeface="Consolas"/>
              </a:defRPr>
            </a:pPr>
            <a:r>
              <a:t>   告警窗口：2025-04-07 09:11至17:11\n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F8F8F2"/>
                </a:solidFill>
                <a:latin typeface="Consolas"/>
              </a:defRPr>
            </a:pPr>
            <a:r>
              <a:t>   原始告警数：680\n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F8F8F2"/>
                </a:solidFill>
                <a:latin typeface="Consolas"/>
              </a:defRPr>
            </a:pPr>
            <a:r>
              <a:t>   涉及设备：UPS,空调,市电..."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B579A"/>
                </a:solidFill>
                <a:latin typeface="微软雅黑"/>
              </a:defRPr>
            </a:pPr>
            <a:r>
              <a:t>平台自动化：Worker 自动完成 export → GGUF → Ollama 注册 → 评测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297680"/>
            <a:ext cx="5029200" cy="1828800"/>
          </a:xfrm>
          <a:prstGeom prst="rect">
            <a:avLst/>
          </a:prstGeom>
          <a:noFill/>
          <a:ln w="12700">
            <a:solidFill>
              <a:srgbClr val="CCCCCC"/>
            </a:solidFill>
            <a:prstDash val="dash"/>
          </a:ln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666666"/>
                </a:solidFill>
                <a:latin typeface="微软雅黑"/>
              </a:defRPr>
            </a:pPr>
            <a:r>
              <a:t>📷 Ollama 推理输出截图</a:t>
            </a:r>
          </a:p>
          <a:p>
            <a:pPr algn="ctr">
              <a:defRPr sz="1200">
                <a:solidFill>
                  <a:srgbClr val="666666"/>
                </a:solidFill>
                <a:latin typeface="微软雅黑"/>
              </a:defRPr>
            </a:pPr>
            <a:r>
              <a:t>（请在此处粘贴实际截图）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4297680"/>
            <a:ext cx="5029200" cy="1828800"/>
          </a:xfrm>
          <a:prstGeom prst="rect">
            <a:avLst/>
          </a:prstGeom>
          <a:noFill/>
          <a:ln w="12700">
            <a:solidFill>
              <a:srgbClr val="CCCCCC"/>
            </a:solidFill>
            <a:prstDash val="dash"/>
          </a:ln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666666"/>
                </a:solidFill>
                <a:latin typeface="微软雅黑"/>
              </a:defRPr>
            </a:pPr>
            <a:r>
              <a:t>📷 平台 H5 页面推理效果截图</a:t>
            </a:r>
          </a:p>
          <a:p>
            <a:pPr algn="ctr">
              <a:defRPr sz="1200">
                <a:solidFill>
                  <a:srgbClr val="666666"/>
                </a:solidFill>
                <a:latin typeface="微软雅黑"/>
              </a:defRPr>
            </a:pPr>
            <a:r>
              <a:t>（请在此处粘贴实际截图）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3C6E"/>
                </a:solidFill>
                <a:latin typeface="微软雅黑"/>
              </a:defRPr>
            </a:pPr>
            <a:r>
              <a:t>九、效果评测：离线评测与对比报告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B579A"/>
                </a:solidFill>
                <a:latin typeface="微软雅黑"/>
              </a:defRPr>
            </a:pPr>
            <a:r>
              <a:t>基于 Ollama 的统一评测框架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  <a:defRPr sz="1300">
                <a:solidFill>
                  <a:srgbClr val="333333"/>
                </a:solidFill>
                <a:latin typeface="微软雅黑"/>
              </a:defRPr>
            </a:pPr>
            <a:r>
              <a:t>• 评测集：alarm_analysis_eval_v1（64 条）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300">
                <a:solidFill>
                  <a:srgbClr val="333333"/>
                </a:solidFill>
                <a:latin typeface="微软雅黑"/>
              </a:defRPr>
            </a:pPr>
            <a:r>
              <a:t>• Benchmark 集：16 条短文本（压测吞吐）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300">
                <a:solidFill>
                  <a:srgbClr val="333333"/>
                </a:solidFill>
                <a:latin typeface="微软雅黑"/>
              </a:defRPr>
            </a:pPr>
            <a:r>
              <a:t>• Smoke 集：8 条（快速冒烟验证）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300">
                <a:solidFill>
                  <a:srgbClr val="333333"/>
                </a:solidFill>
                <a:latin typeface="微软雅黑"/>
              </a:defRPr>
            </a:pPr>
            <a:r>
              <a:t>• 评测指标：expected_contains 关键词命中率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300">
                <a:solidFill>
                  <a:srgbClr val="333333"/>
                </a:solidFill>
                <a:latin typeface="微软雅黑"/>
              </a:defRPr>
            </a:pPr>
            <a:r>
              <a:t>• 自动化评测：Worker 一键完成</a:t>
            </a:r>
          </a:p>
        </p:txBody>
      </p:sp>
      <p:sp>
        <p:nvSpPr>
          <p:cNvPr id="5" name="TextBox 4"/>
          <p:cNvSpPr txBox="1"/>
          <p:nvPr/>
        </p:nvSpPr>
        <p:spPr>
          <a:solidFill>
            <a:srgbClr val="1E1E2E"/>
          </a:solidFill>
          <a:xfrm>
            <a:off x="5760720" y="1371600"/>
            <a:ext cx="56692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75715E"/>
                </a:solidFill>
                <a:latin typeface="Consolas"/>
              </a:defRPr>
            </a:pPr>
            <a:r>
              <a:t># 评测数据格式 (eval.jsonl)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F8F8F2"/>
                </a:solidFill>
                <a:latin typeface="Consolas"/>
              </a:defRPr>
            </a:pPr>
            <a:r>
              <a:t>{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E6DB74"/>
                </a:solidFill>
                <a:latin typeface="Consolas"/>
              </a:defRPr>
            </a:pPr>
            <a:r>
              <a:t>  "task_type": "alarm_diagnosis",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F8F8F2"/>
                </a:solidFill>
                <a:latin typeface="Consolas"/>
              </a:defRPr>
            </a:pPr>
            <a:r>
              <a:t>  "messages": [...],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A6E22E"/>
                </a:solidFill>
                <a:latin typeface="Consolas"/>
              </a:defRPr>
            </a:pPr>
            <a:r>
              <a:t>  "expected_contains": [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F8F8F2"/>
                </a:solidFill>
                <a:latin typeface="Consolas"/>
              </a:defRPr>
            </a:pPr>
            <a:r>
              <a:t>    "市电供电异常导致门磁系统误告警",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F8F8F2"/>
                </a:solidFill>
                <a:latin typeface="Consolas"/>
              </a:defRPr>
            </a:pPr>
            <a:r>
              <a:t>    "UPS", "市电"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F8F8F2"/>
                </a:solidFill>
                <a:latin typeface="Consolas"/>
              </a:defRPr>
            </a:pPr>
            <a:r>
              <a:t>  ]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F8F8F2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微软雅黑"/>
              </a:defRPr>
            </a:pPr>
            <a:r>
              <a:t>多模型对比矩阵：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3840480"/>
          <a:ext cx="1097280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194560"/>
                <a:gridCol w="2194560"/>
                <a:gridCol w="2194560"/>
                <a:gridCol w="2194560"/>
              </a:tblGrid>
              <a:tr h="3200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实验名称</a:t>
                      </a:r>
                    </a:p>
                  </a:txBody>
                  <a:tcPr>
                    <a:solidFill>
                      <a:srgbClr val="2B579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基础模型</a:t>
                      </a:r>
                    </a:p>
                  </a:txBody>
                  <a:tcPr>
                    <a:solidFill>
                      <a:srgbClr val="2B579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训练方式</a:t>
                      </a:r>
                    </a:p>
                  </a:txBody>
                  <a:tcPr>
                    <a:solidFill>
                      <a:srgbClr val="2B579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评测命中率</a:t>
                      </a:r>
                    </a:p>
                  </a:txBody>
                  <a:tcPr>
                    <a:solidFill>
                      <a:srgbClr val="2B579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推理延迟</a:t>
                      </a:r>
                    </a:p>
                  </a:txBody>
                  <a:tcPr>
                    <a:solidFill>
                      <a:srgbClr val="2B579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基线 (原始推理)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Qwen3.5-9B-Base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无训练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待填写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待填写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LoRA-SFT (swift)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Qwen3.5-9B-Base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LoRA + SFT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待填写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待填写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LoRA-SFT (LLaMA-Factory)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Qwen3.5-2B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LoRA + SFT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待填写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待填写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303520"/>
            <a:ext cx="5029200" cy="822960"/>
          </a:xfrm>
          <a:prstGeom prst="rect">
            <a:avLst/>
          </a:prstGeom>
          <a:noFill/>
          <a:ln w="12700">
            <a:solidFill>
              <a:srgbClr val="CCCCCC"/>
            </a:solidFill>
            <a:prstDash val="dash"/>
          </a:ln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666666"/>
                </a:solidFill>
                <a:latin typeface="微软雅黑"/>
              </a:defRPr>
            </a:pPr>
            <a:r>
              <a:t>📷 评测结果对比图表截图</a:t>
            </a:r>
          </a:p>
          <a:p>
            <a:pPr algn="ctr">
              <a:defRPr sz="1200">
                <a:solidFill>
                  <a:srgbClr val="666666"/>
                </a:solidFill>
                <a:latin typeface="微软雅黑"/>
              </a:defRPr>
            </a:pPr>
            <a:r>
              <a:t>（请在此处粘贴实际截图）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5303520"/>
            <a:ext cx="5029200" cy="822960"/>
          </a:xfrm>
          <a:prstGeom prst="rect">
            <a:avLst/>
          </a:prstGeom>
          <a:noFill/>
          <a:ln w="12700">
            <a:solidFill>
              <a:srgbClr val="CCCCCC"/>
            </a:solidFill>
            <a:prstDash val="dash"/>
          </a:ln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666666"/>
                </a:solidFill>
                <a:latin typeface="微软雅黑"/>
              </a:defRPr>
            </a:pPr>
            <a:r>
              <a:t>📷 对比报告 H5 页面截图</a:t>
            </a:r>
          </a:p>
          <a:p>
            <a:pPr algn="ctr">
              <a:defRPr sz="1200">
                <a:solidFill>
                  <a:srgbClr val="666666"/>
                </a:solidFill>
                <a:latin typeface="微软雅黑"/>
              </a:defRPr>
            </a:pPr>
            <a:r>
              <a:t>（请在此处粘贴实际截图）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3C6E"/>
                </a:solidFill>
                <a:latin typeface="微软雅黑"/>
              </a:defRPr>
            </a:pPr>
            <a:r>
              <a:t>十、平台集成：实验台全链路闭环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B579A"/>
                </a:solidFill>
                <a:latin typeface="微软雅黑"/>
              </a:defRPr>
            </a:pPr>
            <a:r>
              <a:t>ai_trains 训练对比实验平台架构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• 前端：Vue3 + Vite H5 实验管理界面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• 后端：FastAPI + SQLite 元数据管理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• Worker：轮询任务，串行执行训练流程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• 训练后端：LLaMA-Factory (一期) + ms-swift (二期)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• 推理后端：Ollama 统一离线评测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• 报告系统：单次运行报告 + 多模型对比报告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• 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• 全链路流程：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•   创建实验 → 生成运行 → 准备配置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•   → 执行训练 → 导出模型 → 注册Ollama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•   → 离线评测 → 生成报告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0" y="13716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微软雅黑"/>
              </a:defRPr>
            </a:pPr>
            <a:r>
              <a:t>创建 swift 训练实验 (API 请求)：</a:t>
            </a:r>
          </a:p>
        </p:txBody>
      </p:sp>
      <p:sp>
        <p:nvSpPr>
          <p:cNvPr id="6" name="TextBox 5"/>
          <p:cNvSpPr txBox="1"/>
          <p:nvPr/>
        </p:nvSpPr>
        <p:spPr>
          <a:solidFill>
            <a:srgbClr val="1E1E2E"/>
          </a:solidFill>
          <a:xfrm>
            <a:off x="5852160" y="1645920"/>
            <a:ext cx="5486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75715E"/>
                </a:solidFill>
                <a:latin typeface="Consolas"/>
              </a:defRPr>
            </a:pPr>
            <a:r>
              <a:t>POST /api/experiments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F8F8F2"/>
                </a:solidFill>
                <a:latin typeface="Consolas"/>
              </a:defRPr>
            </a:pPr>
            <a:r>
              <a:t>{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E6DB74"/>
                </a:solidFill>
                <a:latin typeface="Consolas"/>
              </a:defRPr>
            </a:pPr>
            <a:r>
              <a:t>  "name": "Qwen3.5-9B-Base 告警诊断",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A6E22E"/>
                </a:solidFill>
                <a:latin typeface="Consolas"/>
              </a:defRPr>
            </a:pPr>
            <a:r>
              <a:t>  "base_model": "Qwen/Qwen3.5-9B-Base",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A6E22E"/>
                </a:solidFill>
                <a:latin typeface="Consolas"/>
              </a:defRPr>
            </a:pPr>
            <a:r>
              <a:t>  "trainer_backend": "swift",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F8F8F2"/>
                </a:solidFill>
                <a:latin typeface="Consolas"/>
              </a:defRPr>
            </a:pPr>
            <a:r>
              <a:t>  "route_type": "sft",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F8F8F2"/>
                </a:solidFill>
                <a:latin typeface="Consolas"/>
              </a:defRPr>
            </a:pPr>
            <a:r>
              <a:t>  "dataset_version":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E6DB74"/>
                </a:solidFill>
                <a:latin typeface="Consolas"/>
              </a:defRPr>
            </a:pPr>
            <a:r>
              <a:t>    "alarm_analysis_swift_sft_v1",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F8F8F2"/>
                </a:solidFill>
                <a:latin typeface="Consolas"/>
              </a:defRPr>
            </a:pPr>
            <a:r>
              <a:t>  "train_config": {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F8F8F2"/>
                </a:solidFill>
                <a:latin typeface="Consolas"/>
              </a:defRPr>
            </a:pPr>
            <a:r>
              <a:t>    "train_type": "lora",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F8F8F2"/>
                </a:solidFill>
                <a:latin typeface="Consolas"/>
              </a:defRPr>
            </a:pPr>
            <a:r>
              <a:t>    "template": "qwen3",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E6DB74"/>
                </a:solidFill>
                <a:latin typeface="Consolas"/>
              </a:defRPr>
            </a:pPr>
            <a:r>
              <a:t>    "lora_rank": 64,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E6DB74"/>
                </a:solidFill>
                <a:latin typeface="Consolas"/>
              </a:defRPr>
            </a:pPr>
            <a:r>
              <a:t>    "lora_alpha": 128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F8F8F2"/>
                </a:solidFill>
                <a:latin typeface="Consolas"/>
              </a:defRPr>
            </a:pPr>
            <a:r>
              <a:t>  }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F8F8F2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5029200" cy="1280160"/>
          </a:xfrm>
          <a:prstGeom prst="rect">
            <a:avLst/>
          </a:prstGeom>
          <a:noFill/>
          <a:ln w="12700">
            <a:solidFill>
              <a:srgbClr val="CCCCCC"/>
            </a:solidFill>
            <a:prstDash val="dash"/>
          </a:ln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666666"/>
                </a:solidFill>
                <a:latin typeface="微软雅黑"/>
              </a:defRPr>
            </a:pPr>
            <a:r>
              <a:t>📷 实验台 H5 主界面截图</a:t>
            </a:r>
          </a:p>
          <a:p>
            <a:pPr algn="ctr">
              <a:defRPr sz="1200">
                <a:solidFill>
                  <a:srgbClr val="666666"/>
                </a:solidFill>
                <a:latin typeface="微软雅黑"/>
              </a:defRPr>
            </a:pPr>
            <a:r>
              <a:t>（请在此处粘贴实际截图）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4846320"/>
            <a:ext cx="5029200" cy="1280160"/>
          </a:xfrm>
          <a:prstGeom prst="rect">
            <a:avLst/>
          </a:prstGeom>
          <a:noFill/>
          <a:ln w="12700">
            <a:solidFill>
              <a:srgbClr val="CCCCCC"/>
            </a:solidFill>
            <a:prstDash val="dash"/>
          </a:ln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666666"/>
                </a:solidFill>
                <a:latin typeface="微软雅黑"/>
              </a:defRPr>
            </a:pPr>
            <a:r>
              <a:t>📷 运行详情页面截图</a:t>
            </a:r>
          </a:p>
          <a:p>
            <a:pPr algn="ctr">
              <a:defRPr sz="1200">
                <a:solidFill>
                  <a:srgbClr val="666666"/>
                </a:solidFill>
                <a:latin typeface="微软雅黑"/>
              </a:defRPr>
            </a:pPr>
            <a:r>
              <a:t>（请在此处粘贴实际截图）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3C6E"/>
                </a:solidFill>
                <a:latin typeface="微软雅黑"/>
              </a:defRPr>
            </a:pPr>
            <a:r>
              <a:t>十、运行产物与目录结构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B579A"/>
                </a:solidFill>
                <a:latin typeface="微软雅黑"/>
              </a:defRPr>
            </a:pPr>
            <a:r>
              <a:t>每次训练运行生成的文件清单</a:t>
            </a:r>
          </a:p>
        </p:txBody>
      </p:sp>
      <p:sp>
        <p:nvSpPr>
          <p:cNvPr id="4" name="TextBox 3"/>
          <p:cNvSpPr txBox="1"/>
          <p:nvPr/>
        </p:nvSpPr>
        <p:spPr>
          <a:solidFill>
            <a:srgbClr val="1E1E2E"/>
          </a:solidFill>
          <a:xfrm>
            <a:off x="365760" y="13716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A6E22E"/>
                </a:solidFill>
                <a:latin typeface="Consolas"/>
              </a:defRPr>
            </a:pPr>
            <a:r>
              <a:t>runtime/runs/run_20260412_001/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F8F8F2"/>
                </a:solidFill>
                <a:latin typeface="Consolas"/>
              </a:defRPr>
            </a:pPr>
            <a:r>
              <a:t>├── input/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F8F8F2"/>
                </a:solidFill>
                <a:latin typeface="Consolas"/>
              </a:defRPr>
            </a:pPr>
            <a:r>
              <a:t>│   ├── run_manifest.json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E6DB74"/>
                </a:solidFill>
                <a:latin typeface="Consolas"/>
              </a:defRPr>
            </a:pPr>
            <a:r>
              <a:t>│   ├── swift.train.yaml      # 训练配置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E6DB74"/>
                </a:solidFill>
                <a:latin typeface="Consolas"/>
              </a:defRPr>
            </a:pPr>
            <a:r>
              <a:t>│   ├── swift.export.yaml     # 导出配置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E6DB74"/>
                </a:solidFill>
                <a:latin typeface="Consolas"/>
              </a:defRPr>
            </a:pPr>
            <a:r>
              <a:t>│   ├── swift.eval.yaml       # 评测计划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F8F8F2"/>
                </a:solidFill>
                <a:latin typeface="Consolas"/>
              </a:defRPr>
            </a:pPr>
            <a:r>
              <a:t>│   └── swift.preview.txt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F8F8F2"/>
                </a:solidFill>
                <a:latin typeface="Consolas"/>
              </a:defRPr>
            </a:pPr>
            <a:r>
              <a:t>├── output/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A6E22E"/>
                </a:solidFill>
                <a:latin typeface="Consolas"/>
              </a:defRPr>
            </a:pPr>
            <a:r>
              <a:t>│   ├── adapter/              # LoRA 权重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A6E22E"/>
                </a:solidFill>
                <a:latin typeface="Consolas"/>
              </a:defRPr>
            </a:pPr>
            <a:r>
              <a:t>│   ├── merged/               # 合并后模型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F8F8F2"/>
                </a:solidFill>
                <a:latin typeface="Consolas"/>
              </a:defRPr>
            </a:pPr>
            <a:r>
              <a:t>│   ├── Modelfile             # Ollama 配置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F8F8F2"/>
                </a:solidFill>
                <a:latin typeface="Consolas"/>
              </a:defRPr>
            </a:pPr>
            <a:r>
              <a:t>│   └── command_preview.json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F8F8F2"/>
                </a:solidFill>
                <a:latin typeface="Consolas"/>
              </a:defRPr>
            </a:pPr>
            <a:r>
              <a:t>├── logs/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F8F8F2"/>
                </a:solidFill>
                <a:latin typeface="Consolas"/>
              </a:defRPr>
            </a:pPr>
            <a:r>
              <a:t>│   ├── train.log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F8F8F2"/>
                </a:solidFill>
                <a:latin typeface="Consolas"/>
              </a:defRPr>
            </a:pPr>
            <a:r>
              <a:t>│   ├── export.log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F8F8F2"/>
                </a:solidFill>
                <a:latin typeface="Consolas"/>
              </a:defRPr>
            </a:pPr>
            <a:r>
              <a:t>│   └── worker.log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F8F8F2"/>
                </a:solidFill>
                <a:latin typeface="Consolas"/>
              </a:defRPr>
            </a:pPr>
            <a:r>
              <a:t>├── eval/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E6DB74"/>
                </a:solidFill>
                <a:latin typeface="Consolas"/>
              </a:defRPr>
            </a:pPr>
            <a:r>
              <a:t>│   ├── eval_results.jsonl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E6DB74"/>
                </a:solidFill>
                <a:latin typeface="Consolas"/>
              </a:defRPr>
            </a:pPr>
            <a:r>
              <a:t>│   └── eval_summary.json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F8F8F2"/>
                </a:solidFill>
                <a:latin typeface="Consolas"/>
              </a:defRPr>
            </a:pPr>
            <a:r>
              <a:t>├── benchmark/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100">
                <a:solidFill>
                  <a:srgbClr val="F8F8F2"/>
                </a:solidFill>
                <a:latin typeface="Consolas"/>
              </a:defRPr>
            </a:pPr>
            <a:r>
              <a:t>└── reports/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0" y="1371600"/>
          <a:ext cx="54864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3200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产物</a:t>
                      </a:r>
                    </a:p>
                  </a:txBody>
                  <a:tcPr>
                    <a:solidFill>
                      <a:srgbClr val="2B579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路径</a:t>
                      </a:r>
                    </a:p>
                  </a:txBody>
                  <a:tcPr>
                    <a:solidFill>
                      <a:srgbClr val="2B579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说明</a:t>
                      </a:r>
                    </a:p>
                  </a:txBody>
                  <a:tcPr>
                    <a:solidFill>
                      <a:srgbClr val="2B579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训练配置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input/swift.train.yaml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完整训练参数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LoRA 权重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output/adapter/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训练产出的适配器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合并模型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output/merged/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合并后完整模型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训练日志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logs/train.log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训练过程详细日志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评测结果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eval/eval_results.jsonl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逐条评测输出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评测汇总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eval/eval_summary.json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命中率等指标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运行报告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reports/{run_id}.json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完整运行报告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3C6E"/>
                </a:solidFill>
                <a:latin typeface="微软雅黑"/>
              </a:defRPr>
            </a:pPr>
            <a:r>
              <a:t>十一、效果展示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B579A"/>
                </a:solidFill>
                <a:latin typeface="微软雅黑"/>
              </a:defRPr>
            </a:pPr>
            <a:r>
              <a:t>训练前后对比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371600"/>
            <a:ext cx="5303520" cy="2011680"/>
          </a:xfrm>
          <a:prstGeom prst="rect">
            <a:avLst/>
          </a:prstGeom>
          <a:noFill/>
          <a:ln w="12700">
            <a:solidFill>
              <a:srgbClr val="CCCCCC"/>
            </a:solidFill>
            <a:prstDash val="dash"/>
          </a:ln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666666"/>
                </a:solidFill>
                <a:latin typeface="微软雅黑"/>
              </a:defRPr>
            </a:pPr>
            <a:r>
              <a:t>📷 训练前：Base 模型原始推理输出截图</a:t>
            </a:r>
          </a:p>
          <a:p>
            <a:pPr algn="ctr">
              <a:defRPr sz="1200">
                <a:solidFill>
                  <a:srgbClr val="666666"/>
                </a:solidFill>
                <a:latin typeface="微软雅黑"/>
              </a:defRPr>
            </a:pPr>
            <a:r>
              <a:t>（请在此处粘贴实际截图）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0" y="1371600"/>
            <a:ext cx="5303520" cy="2011680"/>
          </a:xfrm>
          <a:prstGeom prst="rect">
            <a:avLst/>
          </a:prstGeom>
          <a:noFill/>
          <a:ln w="12700">
            <a:solidFill>
              <a:srgbClr val="CCCCCC"/>
            </a:solidFill>
            <a:prstDash val="dash"/>
          </a:ln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666666"/>
                </a:solidFill>
                <a:latin typeface="微软雅黑"/>
              </a:defRPr>
            </a:pPr>
            <a:r>
              <a:t>📷 训练后：SFT 模型诊断输出截图</a:t>
            </a:r>
          </a:p>
          <a:p>
            <a:pPr algn="ctr">
              <a:defRPr sz="1200">
                <a:solidFill>
                  <a:srgbClr val="666666"/>
                </a:solidFill>
                <a:latin typeface="微软雅黑"/>
              </a:defRPr>
            </a:pPr>
            <a:r>
              <a:t>（请在此处粘贴实际截图）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0"/>
            <a:ext cx="5303520" cy="2286000"/>
          </a:xfrm>
          <a:prstGeom prst="rect">
            <a:avLst/>
          </a:prstGeom>
          <a:noFill/>
          <a:ln w="12700">
            <a:solidFill>
              <a:srgbClr val="CCCCCC"/>
            </a:solidFill>
            <a:prstDash val="dash"/>
          </a:ln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666666"/>
                </a:solidFill>
                <a:latin typeface="微软雅黑"/>
              </a:defRPr>
            </a:pPr>
            <a:r>
              <a:t>📷 训练 Loss 曲线截图</a:t>
            </a:r>
          </a:p>
          <a:p>
            <a:pPr algn="ctr">
              <a:defRPr sz="1200">
                <a:solidFill>
                  <a:srgbClr val="666666"/>
                </a:solidFill>
                <a:latin typeface="微软雅黑"/>
              </a:defRPr>
            </a:pPr>
            <a:r>
              <a:t>（请在此处粘贴实际截图）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3657600"/>
            <a:ext cx="5303520" cy="2286000"/>
          </a:xfrm>
          <a:prstGeom prst="rect">
            <a:avLst/>
          </a:prstGeom>
          <a:noFill/>
          <a:ln w="12700">
            <a:solidFill>
              <a:srgbClr val="CCCCCC"/>
            </a:solidFill>
            <a:prstDash val="dash"/>
          </a:ln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666666"/>
                </a:solidFill>
                <a:latin typeface="微软雅黑"/>
              </a:defRPr>
            </a:pPr>
            <a:r>
              <a:t>📷 多模型对比报告截图</a:t>
            </a:r>
          </a:p>
          <a:p>
            <a:pPr algn="ctr">
              <a:defRPr sz="1200">
                <a:solidFill>
                  <a:srgbClr val="666666"/>
                </a:solidFill>
                <a:latin typeface="微软雅黑"/>
              </a:defRPr>
            </a:pPr>
            <a:r>
              <a:t>（请在此处粘贴实际截图）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C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微软雅黑"/>
              </a:defRPr>
            </a:pPr>
            <a:r>
              <a:t>总结与展望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515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FFFFFF"/>
                </a:solidFill>
                <a:latin typeface="微软雅黑"/>
              </a:defRPr>
            </a:pPr>
            <a:r>
              <a:t>• 采用 Qwen3.5-9B-Base 作为基础模型，面向动环监控告警诊断场景进行 LoRA-SFT 训练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FFFFFF"/>
                </a:solidFill>
                <a:latin typeface="微软雅黑"/>
              </a:defRPr>
            </a:pPr>
            <a:r>
              <a:t>• 使用 ms-swift 框架，支持 YAML 配置与命令行两种训练方式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FFFFFF"/>
                </a:solidFill>
                <a:latin typeface="微软雅黑"/>
              </a:defRPr>
            </a:pPr>
            <a:r>
              <a:t>• 数据集来源于真实动环平台，经 Qwen3-235B 标注 + 自动压缩清洗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FFFFFF"/>
                </a:solidFill>
                <a:latin typeface="微软雅黑"/>
              </a:defRPr>
            </a:pPr>
            <a:r>
              <a:t>• 全链路自动化：训练 → 导出 → Ollama 部署 → 离线评测 → 对比报告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500">
                <a:solidFill>
                  <a:srgbClr val="FFFFFF"/>
                </a:solidFill>
                <a:latin typeface="微软雅黑"/>
              </a:defRPr>
            </a:pPr>
            <a:r>
              <a:t>• 平台层双后端设计：LLaMA-Factory (一期) + ms-swift (二期) 无缝切换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CC00"/>
                </a:solidFill>
                <a:latin typeface="微软雅黑"/>
              </a:defRPr>
            </a:pPr>
            <a:r>
              <a:t>后续计划：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  <a:defRPr sz="1400">
                <a:solidFill>
                  <a:srgbClr val="CCDDFF"/>
                </a:solidFill>
                <a:latin typeface="微软雅黑"/>
              </a:defRPr>
            </a:pPr>
            <a:r>
              <a:t>• WSL 环境部署 ms-swift 完成真实训练闭环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400">
                <a:solidFill>
                  <a:srgbClr val="CCDDFF"/>
                </a:solidFill>
                <a:latin typeface="微软雅黑"/>
              </a:defRPr>
            </a:pPr>
            <a:r>
              <a:t>• 引入 DAPT/CPT（领域自适应预训练）提升专业术语理解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400">
                <a:solidFill>
                  <a:srgbClr val="CCDDFF"/>
                </a:solidFill>
                <a:latin typeface="微软雅黑"/>
              </a:defRPr>
            </a:pPr>
            <a:r>
              <a:t>• 扩展评测维度：诊断准确率、根因命中率、推理时效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400">
                <a:solidFill>
                  <a:srgbClr val="CCDDFF"/>
                </a:solidFill>
                <a:latin typeface="微软雅黑"/>
              </a:defRPr>
            </a:pPr>
            <a:r>
              <a:t>• 接入更多设备类型和告警场景数据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